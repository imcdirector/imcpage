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58" r:id="rId6"/>
    <p:sldId id="268" r:id="rId7"/>
    <p:sldId id="260" r:id="rId8"/>
    <p:sldId id="269" r:id="rId9"/>
    <p:sldId id="261" r:id="rId10"/>
    <p:sldId id="270" r:id="rId11"/>
    <p:sldId id="262" r:id="rId12"/>
    <p:sldId id="271" r:id="rId13"/>
    <p:sldId id="264" r:id="rId14"/>
    <p:sldId id="272" r:id="rId15"/>
    <p:sldId id="26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91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2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F85FF5D-4214-BC43-8A09-D3FAD39F6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3A03105-626F-AB94-F0CC-9E93A58021AA}"/>
              </a:ext>
            </a:extLst>
          </p:cNvPr>
          <p:cNvCxnSpPr>
            <a:cxnSpLocks/>
          </p:cNvCxnSpPr>
          <p:nvPr/>
        </p:nvCxnSpPr>
        <p:spPr>
          <a:xfrm flipV="1">
            <a:off x="6096000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7B9703-9AF4-6CD8-D6C0-1ECE0B9A8112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171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355C-EA4F-90ED-472E-559EDEDD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D868BEA-D93A-B912-BDAA-59C1D513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E387799-EF69-9B62-6898-6FB19FA903EA}"/>
              </a:ext>
            </a:extLst>
          </p:cNvPr>
          <p:cNvCxnSpPr>
            <a:cxnSpLocks/>
          </p:cNvCxnSpPr>
          <p:nvPr/>
        </p:nvCxnSpPr>
        <p:spPr>
          <a:xfrm flipV="1">
            <a:off x="6096000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2D5239-4FFE-3F98-0F92-393A4B7753B1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AED04C-B208-0305-CAA8-EEEB91570855}"/>
              </a:ext>
            </a:extLst>
          </p:cNvPr>
          <p:cNvSpPr/>
          <p:nvPr/>
        </p:nvSpPr>
        <p:spPr>
          <a:xfrm>
            <a:off x="0" y="0"/>
            <a:ext cx="3740722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궤적을 누르면 도출되는 첫 화면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검은색 배경의 노란색 테두리 사각형은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표현하라는 것이 아니라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표현해야하는 것들을 지시하는 내용임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  <a:endParaRPr lang="ko-KR" altLang="en-US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A8AC3E-C206-65A3-C5B8-0A6231ECBF82}"/>
              </a:ext>
            </a:extLst>
          </p:cNvPr>
          <p:cNvSpPr/>
          <p:nvPr/>
        </p:nvSpPr>
        <p:spPr>
          <a:xfrm>
            <a:off x="6312271" y="3990109"/>
            <a:ext cx="5184404" cy="1267691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궤적을 누르면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 가운데 하단부에서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3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초간 화살표가 로켓처럼 쏘아올라온다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(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화살표 아래부분으로 갈수록 점점 옅어져 소멸하는 그라데이션이다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.)</a:t>
            </a:r>
          </a:p>
          <a:p>
            <a:pPr algn="ctr"/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10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 주기로 우측 상단의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Cyan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이 좌측 상단으로 유성처럼 꼬리를 그리며 빠르게 떨어진다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10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 주기로 계속해서 반복한다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372D0D-D880-2EA1-F65D-9E1E3F296EA2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1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C14F95-F68D-5CA4-A08F-28483473AAC1}"/>
              </a:ext>
            </a:extLst>
          </p:cNvPr>
          <p:cNvSpPr/>
          <p:nvPr/>
        </p:nvSpPr>
        <p:spPr>
          <a:xfrm>
            <a:off x="8131438" y="101966"/>
            <a:ext cx="2946137" cy="400916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목차의 여정과 궤적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  <a:sym typeface="Wingdings" panose="05000000000000000000" pitchFamily="2" charset="2"/>
              </a:rPr>
              <a:t>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  <a:sym typeface="Wingdings" panose="05000000000000000000" pitchFamily="2" charset="2"/>
              </a:rPr>
              <a:t>여정과 궤적  으로 수정하라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ADC0AF-4F15-2A36-0577-39C8E56D75AE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52966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4762-99BF-2B78-23A6-A941DDCF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F2464E6-09AD-E226-CEAB-003F076F5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619022B-362D-DC47-EDE7-A2AAB4DC28EE}"/>
              </a:ext>
            </a:extLst>
          </p:cNvPr>
          <p:cNvCxnSpPr>
            <a:cxnSpLocks/>
          </p:cNvCxnSpPr>
          <p:nvPr/>
        </p:nvCxnSpPr>
        <p:spPr>
          <a:xfrm flipV="1">
            <a:off x="6096000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3D80EBFC-9705-C470-5117-848C12D7D4D4}"/>
              </a:ext>
            </a:extLst>
          </p:cNvPr>
          <p:cNvSpPr/>
          <p:nvPr/>
        </p:nvSpPr>
        <p:spPr>
          <a:xfrm>
            <a:off x="6057409" y="2065524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963FA-D767-7B75-491E-4F0257C3D921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7FC03A5-4519-2E55-7DC8-F17DC6767801}"/>
              </a:ext>
            </a:extLst>
          </p:cNvPr>
          <p:cNvSpPr/>
          <p:nvPr/>
        </p:nvSpPr>
        <p:spPr>
          <a:xfrm>
            <a:off x="6057409" y="2650112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564B6F5-D6D4-6C09-95D3-F89EF639D714}"/>
              </a:ext>
            </a:extLst>
          </p:cNvPr>
          <p:cNvSpPr/>
          <p:nvPr/>
        </p:nvSpPr>
        <p:spPr>
          <a:xfrm>
            <a:off x="6057409" y="3234700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2949DD2-4D41-38CF-8B84-9C493458E497}"/>
              </a:ext>
            </a:extLst>
          </p:cNvPr>
          <p:cNvSpPr/>
          <p:nvPr/>
        </p:nvSpPr>
        <p:spPr>
          <a:xfrm>
            <a:off x="6057409" y="3819288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B33D83B-4E21-BAAB-A85C-CA98C14016D9}"/>
              </a:ext>
            </a:extLst>
          </p:cNvPr>
          <p:cNvSpPr/>
          <p:nvPr/>
        </p:nvSpPr>
        <p:spPr>
          <a:xfrm>
            <a:off x="6057409" y="4403875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06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3D6A-014E-4522-85A8-03B88B06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5F62DF6-EF7A-B488-F48D-EEC26DE21D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1DC7283-0FB3-946D-D149-016B599F655A}"/>
              </a:ext>
            </a:extLst>
          </p:cNvPr>
          <p:cNvCxnSpPr>
            <a:cxnSpLocks/>
          </p:cNvCxnSpPr>
          <p:nvPr/>
        </p:nvCxnSpPr>
        <p:spPr>
          <a:xfrm flipV="1">
            <a:off x="6096000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94AFCE3E-E695-3EC7-B550-481A3571DC96}"/>
              </a:ext>
            </a:extLst>
          </p:cNvPr>
          <p:cNvSpPr/>
          <p:nvPr/>
        </p:nvSpPr>
        <p:spPr>
          <a:xfrm>
            <a:off x="6057409" y="2065524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305BE-A478-7120-ED7D-E8AC8D6A6570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800AEB-C44C-F711-58F5-72E4A333ED09}"/>
              </a:ext>
            </a:extLst>
          </p:cNvPr>
          <p:cNvSpPr/>
          <p:nvPr/>
        </p:nvSpPr>
        <p:spPr>
          <a:xfrm>
            <a:off x="7171254" y="3054200"/>
            <a:ext cx="3740722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1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번에서 화살표가 모두 올라오면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</a:t>
            </a:r>
            <a:b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</a:b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화살표의 중앙에 맞도록 정렬된 원들이 아래에서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3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초간 순차적으로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올라오고 세로 간격이 일정하게 도열합니다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5F8D0FE-85B9-2062-7D93-7FE02BA8AF27}"/>
              </a:ext>
            </a:extLst>
          </p:cNvPr>
          <p:cNvSpPr/>
          <p:nvPr/>
        </p:nvSpPr>
        <p:spPr>
          <a:xfrm>
            <a:off x="6057409" y="2650112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0B9A733-39DA-6976-4DFC-0312B9D5426D}"/>
              </a:ext>
            </a:extLst>
          </p:cNvPr>
          <p:cNvSpPr/>
          <p:nvPr/>
        </p:nvSpPr>
        <p:spPr>
          <a:xfrm>
            <a:off x="6057409" y="3234700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9A37493-793E-E2A3-5863-A2D294D85154}"/>
              </a:ext>
            </a:extLst>
          </p:cNvPr>
          <p:cNvSpPr/>
          <p:nvPr/>
        </p:nvSpPr>
        <p:spPr>
          <a:xfrm>
            <a:off x="6057409" y="3819288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D9F208F-9A73-97BA-040F-8EEC5D42AF34}"/>
              </a:ext>
            </a:extLst>
          </p:cNvPr>
          <p:cNvSpPr/>
          <p:nvPr/>
        </p:nvSpPr>
        <p:spPr>
          <a:xfrm>
            <a:off x="6057409" y="4403875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272451-FCC3-0ECB-1B0D-02652212F4D6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2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2A82C2-28A9-3EB5-B696-59D976CEC146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39793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6EBB-C748-45B4-2EDB-73F25E78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29740D2-407B-FE85-135B-A9D93A88D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E3AC77-4704-C904-44FF-29CE002FB62B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E010CCE-53C4-862C-33EC-C7E8C0ECDFAC}"/>
              </a:ext>
            </a:extLst>
          </p:cNvPr>
          <p:cNvCxnSpPr>
            <a:cxnSpLocks/>
          </p:cNvCxnSpPr>
          <p:nvPr/>
        </p:nvCxnSpPr>
        <p:spPr>
          <a:xfrm flipV="1">
            <a:off x="5320145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D6025FD9-AA4C-18DA-1A5B-1D6BA1695653}"/>
              </a:ext>
            </a:extLst>
          </p:cNvPr>
          <p:cNvSpPr/>
          <p:nvPr/>
        </p:nvSpPr>
        <p:spPr>
          <a:xfrm>
            <a:off x="5281554" y="2065524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801D71A-3CFC-E5DD-579B-1039B484D25C}"/>
              </a:ext>
            </a:extLst>
          </p:cNvPr>
          <p:cNvSpPr/>
          <p:nvPr/>
        </p:nvSpPr>
        <p:spPr>
          <a:xfrm>
            <a:off x="5281554" y="2650112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7F0DA0-CFEE-614F-2905-2FFED69EDB93}"/>
              </a:ext>
            </a:extLst>
          </p:cNvPr>
          <p:cNvSpPr/>
          <p:nvPr/>
        </p:nvSpPr>
        <p:spPr>
          <a:xfrm>
            <a:off x="5281554" y="3234700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4E06ACD-82F9-F95B-DD1D-EADF4AD69C9B}"/>
              </a:ext>
            </a:extLst>
          </p:cNvPr>
          <p:cNvSpPr/>
          <p:nvPr/>
        </p:nvSpPr>
        <p:spPr>
          <a:xfrm>
            <a:off x="5281554" y="3819288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5475557-80B8-1F8F-96CF-6A2430A3BC38}"/>
              </a:ext>
            </a:extLst>
          </p:cNvPr>
          <p:cNvSpPr/>
          <p:nvPr/>
        </p:nvSpPr>
        <p:spPr>
          <a:xfrm>
            <a:off x="5281554" y="4403875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0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8486-3F59-721A-A79A-3777E0E79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CAE7746-6991-7B46-F8B9-D5637631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96385-53C6-EE5B-3102-D9B53CBC01C9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C8DC2C-3F3C-4CFD-D5BC-C807BD184BCA}"/>
              </a:ext>
            </a:extLst>
          </p:cNvPr>
          <p:cNvSpPr/>
          <p:nvPr/>
        </p:nvSpPr>
        <p:spPr>
          <a:xfrm>
            <a:off x="1066018" y="1986808"/>
            <a:ext cx="3740722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원들이 모두 도열하면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0.5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 후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지금의 위치로 선과 점이 하나의 그룹으로 왼쪽의 위치로 이동합니다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3DE1A8-0F60-C27A-4E63-D2A8CE578D1C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3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1A32330-DFFB-2967-190C-AA0865705EBE}"/>
              </a:ext>
            </a:extLst>
          </p:cNvPr>
          <p:cNvCxnSpPr>
            <a:cxnSpLocks/>
          </p:cNvCxnSpPr>
          <p:nvPr/>
        </p:nvCxnSpPr>
        <p:spPr>
          <a:xfrm flipV="1">
            <a:off x="5320145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F4C4CD4F-847B-EC3F-F0A4-8BED0778B5EB}"/>
              </a:ext>
            </a:extLst>
          </p:cNvPr>
          <p:cNvSpPr/>
          <p:nvPr/>
        </p:nvSpPr>
        <p:spPr>
          <a:xfrm>
            <a:off x="5281554" y="2065524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B4A97EE-2967-F831-5CED-28B6AE8D72B6}"/>
              </a:ext>
            </a:extLst>
          </p:cNvPr>
          <p:cNvSpPr/>
          <p:nvPr/>
        </p:nvSpPr>
        <p:spPr>
          <a:xfrm>
            <a:off x="5281554" y="2650112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2B11034-B211-7E2A-B917-EBD1E9114D11}"/>
              </a:ext>
            </a:extLst>
          </p:cNvPr>
          <p:cNvSpPr/>
          <p:nvPr/>
        </p:nvSpPr>
        <p:spPr>
          <a:xfrm>
            <a:off x="5281554" y="3234700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F1D7197-B99C-3DD9-E01E-819A2A15B48E}"/>
              </a:ext>
            </a:extLst>
          </p:cNvPr>
          <p:cNvSpPr/>
          <p:nvPr/>
        </p:nvSpPr>
        <p:spPr>
          <a:xfrm>
            <a:off x="5281554" y="3819288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514CC16-FFB0-A03C-1950-BF586781E8FF}"/>
              </a:ext>
            </a:extLst>
          </p:cNvPr>
          <p:cNvSpPr/>
          <p:nvPr/>
        </p:nvSpPr>
        <p:spPr>
          <a:xfrm>
            <a:off x="5281554" y="4403875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0BA79A-AE99-05D1-633A-2FD539820AEA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9496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D63A-D6BF-DBAB-5515-0446263F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7490BC1-E87C-6F52-E7A1-963F3BF2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C1522-3FF6-9EA2-482B-B7A2230A13BB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5BC1449-8214-CA28-2DBE-7F2E7421206F}"/>
              </a:ext>
            </a:extLst>
          </p:cNvPr>
          <p:cNvCxnSpPr>
            <a:cxnSpLocks/>
          </p:cNvCxnSpPr>
          <p:nvPr/>
        </p:nvCxnSpPr>
        <p:spPr>
          <a:xfrm flipV="1">
            <a:off x="5320145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2005EA14-FC82-698C-D38F-D2F70617A993}"/>
              </a:ext>
            </a:extLst>
          </p:cNvPr>
          <p:cNvSpPr/>
          <p:nvPr/>
        </p:nvSpPr>
        <p:spPr>
          <a:xfrm>
            <a:off x="5281554" y="2065524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C3175C2-6300-EF03-B152-C643DF665017}"/>
              </a:ext>
            </a:extLst>
          </p:cNvPr>
          <p:cNvSpPr/>
          <p:nvPr/>
        </p:nvSpPr>
        <p:spPr>
          <a:xfrm>
            <a:off x="5281554" y="2650112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059C951-E73A-7209-FB11-C44830F6C054}"/>
              </a:ext>
            </a:extLst>
          </p:cNvPr>
          <p:cNvSpPr/>
          <p:nvPr/>
        </p:nvSpPr>
        <p:spPr>
          <a:xfrm>
            <a:off x="5281554" y="3234700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91D7220-8410-692A-F595-1174293C0D5B}"/>
              </a:ext>
            </a:extLst>
          </p:cNvPr>
          <p:cNvSpPr/>
          <p:nvPr/>
        </p:nvSpPr>
        <p:spPr>
          <a:xfrm>
            <a:off x="5281554" y="3819288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3977189-ED4C-D497-48FF-05BA5364CBF0}"/>
              </a:ext>
            </a:extLst>
          </p:cNvPr>
          <p:cNvSpPr/>
          <p:nvPr/>
        </p:nvSpPr>
        <p:spPr>
          <a:xfrm>
            <a:off x="5281554" y="4403875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C0F4E-6D49-8359-AE56-0603B86B3B5C}"/>
              </a:ext>
            </a:extLst>
          </p:cNvPr>
          <p:cNvSpPr txBox="1"/>
          <p:nvPr/>
        </p:nvSpPr>
        <p:spPr>
          <a:xfrm>
            <a:off x="5440873" y="4376829"/>
            <a:ext cx="43601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Olympics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87931-9AEB-9B9C-A397-969031E7E8B1}"/>
              </a:ext>
            </a:extLst>
          </p:cNvPr>
          <p:cNvSpPr txBox="1"/>
          <p:nvPr/>
        </p:nvSpPr>
        <p:spPr>
          <a:xfrm>
            <a:off x="5440873" y="3796322"/>
            <a:ext cx="62998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Public Sector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EDA68-1A31-4A5D-5C0D-149EA998E807}"/>
              </a:ext>
            </a:extLst>
          </p:cNvPr>
          <p:cNvSpPr txBox="1"/>
          <p:nvPr/>
        </p:nvSpPr>
        <p:spPr>
          <a:xfrm>
            <a:off x="5440873" y="3211734"/>
            <a:ext cx="74058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Pioneer Startup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F50799-2B25-6A15-901A-84DF46264AC8}"/>
              </a:ext>
            </a:extLst>
          </p:cNvPr>
          <p:cNvSpPr txBox="1"/>
          <p:nvPr/>
        </p:nvSpPr>
        <p:spPr>
          <a:xfrm>
            <a:off x="5440873" y="2627146"/>
            <a:ext cx="1155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Global Battery Materials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E3926-2D2A-478F-9107-55286EE889A9}"/>
              </a:ext>
            </a:extLst>
          </p:cNvPr>
          <p:cNvSpPr txBox="1"/>
          <p:nvPr/>
        </p:nvSpPr>
        <p:spPr>
          <a:xfrm>
            <a:off x="5440873" y="2042558"/>
            <a:ext cx="146674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Independent &amp; Stealth Venture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0010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ABB9-1E80-BB89-F4F5-AD5A3DF4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E889862-172A-1AF9-5A9B-E865E8969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B723AF-0B3E-D5D5-DF48-A0D4337248A2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C21E11-1A3C-B2E2-4948-05DAB598F626}"/>
              </a:ext>
            </a:extLst>
          </p:cNvPr>
          <p:cNvSpPr/>
          <p:nvPr/>
        </p:nvSpPr>
        <p:spPr>
          <a:xfrm>
            <a:off x="7279903" y="4107181"/>
            <a:ext cx="4319905" cy="773232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그룹이 왼쪽으로 위치한 후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0.5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초의 시간을 두고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각 점들 오른쪽에 약간의 여백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(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안정감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)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을 두고 아래에서부터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(Olympics)</a:t>
            </a: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위로 차례대로 타자를 치듯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 목차를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하면 아래에 도출되는 효과처럼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좌에서 우로 글자가 도출됩니다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아래부터 글자가 완성되면 상위 글자로 넘어갑니다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2CC873-5230-A6F5-EF46-7A0717C0DCE1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4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28CD3D0-C589-A98B-17D0-2958AA785D61}"/>
              </a:ext>
            </a:extLst>
          </p:cNvPr>
          <p:cNvCxnSpPr>
            <a:cxnSpLocks/>
          </p:cNvCxnSpPr>
          <p:nvPr/>
        </p:nvCxnSpPr>
        <p:spPr>
          <a:xfrm flipV="1">
            <a:off x="5320145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D5FB2943-86F4-3714-2F6B-FEA573764AD6}"/>
              </a:ext>
            </a:extLst>
          </p:cNvPr>
          <p:cNvSpPr/>
          <p:nvPr/>
        </p:nvSpPr>
        <p:spPr>
          <a:xfrm>
            <a:off x="5281554" y="2065524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B08F85B-47CE-D989-815E-DD6BCCBAA6B8}"/>
              </a:ext>
            </a:extLst>
          </p:cNvPr>
          <p:cNvSpPr/>
          <p:nvPr/>
        </p:nvSpPr>
        <p:spPr>
          <a:xfrm>
            <a:off x="5281554" y="2650112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5565B8C-C0AE-68A1-5335-5B34276D4EED}"/>
              </a:ext>
            </a:extLst>
          </p:cNvPr>
          <p:cNvSpPr/>
          <p:nvPr/>
        </p:nvSpPr>
        <p:spPr>
          <a:xfrm>
            <a:off x="5281554" y="3234700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2133760-CAE3-C963-7802-8D9042062AD6}"/>
              </a:ext>
            </a:extLst>
          </p:cNvPr>
          <p:cNvSpPr/>
          <p:nvPr/>
        </p:nvSpPr>
        <p:spPr>
          <a:xfrm>
            <a:off x="5281554" y="3819288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F97F759-8FBC-B75B-2A98-572C4AAB64C3}"/>
              </a:ext>
            </a:extLst>
          </p:cNvPr>
          <p:cNvSpPr/>
          <p:nvPr/>
        </p:nvSpPr>
        <p:spPr>
          <a:xfrm>
            <a:off x="5281554" y="4403875"/>
            <a:ext cx="77181" cy="7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7232C-54FF-86E8-2BD7-E17138C52D37}"/>
              </a:ext>
            </a:extLst>
          </p:cNvPr>
          <p:cNvSpPr txBox="1"/>
          <p:nvPr/>
        </p:nvSpPr>
        <p:spPr>
          <a:xfrm>
            <a:off x="5440873" y="4376829"/>
            <a:ext cx="43601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Olympics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4F712-66B2-22B9-D83D-A0166E56D57D}"/>
              </a:ext>
            </a:extLst>
          </p:cNvPr>
          <p:cNvSpPr txBox="1"/>
          <p:nvPr/>
        </p:nvSpPr>
        <p:spPr>
          <a:xfrm>
            <a:off x="5440873" y="3796322"/>
            <a:ext cx="62998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Public Sector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BE1DD2-88F7-DEE3-D780-EDEA6A074882}"/>
              </a:ext>
            </a:extLst>
          </p:cNvPr>
          <p:cNvSpPr txBox="1"/>
          <p:nvPr/>
        </p:nvSpPr>
        <p:spPr>
          <a:xfrm>
            <a:off x="5440873" y="3211734"/>
            <a:ext cx="74058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Pioneer Startup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6594F-3CDD-373E-BEDF-7610C8020369}"/>
              </a:ext>
            </a:extLst>
          </p:cNvPr>
          <p:cNvSpPr txBox="1"/>
          <p:nvPr/>
        </p:nvSpPr>
        <p:spPr>
          <a:xfrm>
            <a:off x="5440873" y="2627146"/>
            <a:ext cx="1155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Global Battery Materials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5BF74-795E-793C-7E1C-617AF7AFB6A4}"/>
              </a:ext>
            </a:extLst>
          </p:cNvPr>
          <p:cNvSpPr txBox="1"/>
          <p:nvPr/>
        </p:nvSpPr>
        <p:spPr>
          <a:xfrm>
            <a:off x="5440873" y="2042558"/>
            <a:ext cx="146674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Independent &amp; Stealth Venture</a:t>
            </a:r>
            <a:endParaRPr lang="ko-KR" altLang="en-US" sz="8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EC3F18-D7DD-5EDE-0B15-A62A3BE09776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3944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0E9E-6903-0169-F1EA-C1D5455C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5BFA109-24EF-2A67-C526-9D0722F2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B7CDE3-81A1-E79F-0A6C-092E4DF5D585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D25B5EE-8C34-3D16-3430-7F5A511B7108}"/>
              </a:ext>
            </a:extLst>
          </p:cNvPr>
          <p:cNvGrpSpPr/>
          <p:nvPr/>
        </p:nvGrpSpPr>
        <p:grpSpPr>
          <a:xfrm>
            <a:off x="3806247" y="1756493"/>
            <a:ext cx="1626067" cy="5101507"/>
            <a:chOff x="5281554" y="1756493"/>
            <a:chExt cx="1626067" cy="5101507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ECC8316-77A0-E1DE-BED8-329B44C57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145" y="1756493"/>
              <a:ext cx="0" cy="5101507"/>
            </a:xfrm>
            <a:prstGeom prst="straightConnector1">
              <a:avLst/>
            </a:prstGeom>
            <a:ln w="1270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chemeClr val="tx1">
                      <a:alpha val="0"/>
                    </a:schemeClr>
                  </a:gs>
                </a:gsLst>
                <a:lin ang="5400000" scaled="1"/>
              </a:gra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D01C366E-3AC8-33A7-BCC2-353389A2B06B}"/>
                </a:ext>
              </a:extLst>
            </p:cNvPr>
            <p:cNvSpPr/>
            <p:nvPr/>
          </p:nvSpPr>
          <p:spPr>
            <a:xfrm>
              <a:off x="5281554" y="2065524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6162A50-67F8-1725-EC1B-0A4AF29D168A}"/>
                </a:ext>
              </a:extLst>
            </p:cNvPr>
            <p:cNvSpPr/>
            <p:nvPr/>
          </p:nvSpPr>
          <p:spPr>
            <a:xfrm>
              <a:off x="5281554" y="2650112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506600F-6A4B-4BF6-6642-D1CDFE8E6EBB}"/>
                </a:ext>
              </a:extLst>
            </p:cNvPr>
            <p:cNvSpPr/>
            <p:nvPr/>
          </p:nvSpPr>
          <p:spPr>
            <a:xfrm>
              <a:off x="5281554" y="3234700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45C1B5E7-0EEB-3AE9-774F-16B1CEC4A960}"/>
                </a:ext>
              </a:extLst>
            </p:cNvPr>
            <p:cNvSpPr/>
            <p:nvPr/>
          </p:nvSpPr>
          <p:spPr>
            <a:xfrm>
              <a:off x="5281554" y="3819288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93045FB-5C16-9F6D-9DB5-DF42A6B1AF80}"/>
                </a:ext>
              </a:extLst>
            </p:cNvPr>
            <p:cNvSpPr/>
            <p:nvPr/>
          </p:nvSpPr>
          <p:spPr>
            <a:xfrm>
              <a:off x="5281554" y="4403875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114638-8F9A-6F64-29CE-1E8C3ACF044F}"/>
                </a:ext>
              </a:extLst>
            </p:cNvPr>
            <p:cNvSpPr txBox="1"/>
            <p:nvPr/>
          </p:nvSpPr>
          <p:spPr>
            <a:xfrm>
              <a:off x="5440873" y="4376829"/>
              <a:ext cx="43601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Olympics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B2980D0-BD97-14BF-2FD6-783E79F4705B}"/>
                </a:ext>
              </a:extLst>
            </p:cNvPr>
            <p:cNvSpPr txBox="1"/>
            <p:nvPr/>
          </p:nvSpPr>
          <p:spPr>
            <a:xfrm>
              <a:off x="5440873" y="3796322"/>
              <a:ext cx="62998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Public Sector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3E1E32-EEAC-6913-391E-545E0CF93419}"/>
                </a:ext>
              </a:extLst>
            </p:cNvPr>
            <p:cNvSpPr txBox="1"/>
            <p:nvPr/>
          </p:nvSpPr>
          <p:spPr>
            <a:xfrm>
              <a:off x="5440873" y="3211734"/>
              <a:ext cx="74058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Pioneer Startup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96BE0A-4A85-9605-44CE-E5E2AB753B0C}"/>
                </a:ext>
              </a:extLst>
            </p:cNvPr>
            <p:cNvSpPr txBox="1"/>
            <p:nvPr/>
          </p:nvSpPr>
          <p:spPr>
            <a:xfrm>
              <a:off x="5440873" y="2627146"/>
              <a:ext cx="1155766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Global Battery Materials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AEA759-154A-29DA-ED14-E52A8228255C}"/>
                </a:ext>
              </a:extLst>
            </p:cNvPr>
            <p:cNvSpPr txBox="1"/>
            <p:nvPr/>
          </p:nvSpPr>
          <p:spPr>
            <a:xfrm>
              <a:off x="5440873" y="2042558"/>
              <a:ext cx="146674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Independent &amp; Stealth Venture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584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721AA-82E0-E8F3-B013-E11999A5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6654D68-4B5E-3C90-5BCC-7AC0BC74D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B83A3-B305-4FDA-38A2-533049E9171A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50FC99-875A-90A6-D6C5-DE7143FCD44C}"/>
              </a:ext>
            </a:extLst>
          </p:cNvPr>
          <p:cNvSpPr/>
          <p:nvPr/>
        </p:nvSpPr>
        <p:spPr>
          <a:xfrm>
            <a:off x="7279903" y="4481056"/>
            <a:ext cx="4319905" cy="773232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각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5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개의 점들 오른쪽 글자들이 모두 완성되면 이 모든것을 그룹으로 하여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왼쪽의 위치로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Sliding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하듯 미끄러져 이동합니다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BF8109-C521-60A9-4929-0B28A6F71AB0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5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EC6E8A-0EF2-712B-0807-32BF3B49A384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AEAAFD2-ADCB-CBED-5A37-20F6697886FE}"/>
              </a:ext>
            </a:extLst>
          </p:cNvPr>
          <p:cNvGrpSpPr/>
          <p:nvPr/>
        </p:nvGrpSpPr>
        <p:grpSpPr>
          <a:xfrm>
            <a:off x="3806247" y="1756493"/>
            <a:ext cx="1626067" cy="5101507"/>
            <a:chOff x="5281554" y="1756493"/>
            <a:chExt cx="1626067" cy="5101507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547A5557-E4A3-6F90-2CF2-67076D804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145" y="1756493"/>
              <a:ext cx="0" cy="5101507"/>
            </a:xfrm>
            <a:prstGeom prst="straightConnector1">
              <a:avLst/>
            </a:prstGeom>
            <a:ln w="1270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chemeClr val="tx1">
                      <a:alpha val="0"/>
                    </a:schemeClr>
                  </a:gs>
                </a:gsLst>
                <a:lin ang="5400000" scaled="1"/>
              </a:gra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FCEABC6-3D9E-28C6-7715-9ABA1D1B7C58}"/>
                </a:ext>
              </a:extLst>
            </p:cNvPr>
            <p:cNvSpPr/>
            <p:nvPr/>
          </p:nvSpPr>
          <p:spPr>
            <a:xfrm>
              <a:off x="5281554" y="2065524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FB3DC99-17A3-E88F-E077-A5E55036D340}"/>
                </a:ext>
              </a:extLst>
            </p:cNvPr>
            <p:cNvSpPr/>
            <p:nvPr/>
          </p:nvSpPr>
          <p:spPr>
            <a:xfrm>
              <a:off x="5281554" y="2650112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C9B4484-DE6D-9CF9-B220-2328B65614FD}"/>
                </a:ext>
              </a:extLst>
            </p:cNvPr>
            <p:cNvSpPr/>
            <p:nvPr/>
          </p:nvSpPr>
          <p:spPr>
            <a:xfrm>
              <a:off x="5281554" y="3234700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38DF5A2-3AF1-9204-DBE8-7D2FC28900E6}"/>
                </a:ext>
              </a:extLst>
            </p:cNvPr>
            <p:cNvSpPr/>
            <p:nvPr/>
          </p:nvSpPr>
          <p:spPr>
            <a:xfrm>
              <a:off x="5281554" y="3819288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A9663F8-853D-5610-E723-64D0DD1D4CF9}"/>
                </a:ext>
              </a:extLst>
            </p:cNvPr>
            <p:cNvSpPr/>
            <p:nvPr/>
          </p:nvSpPr>
          <p:spPr>
            <a:xfrm>
              <a:off x="5281554" y="4403875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230997-64B0-6DB2-47F9-4DDBB13B4649}"/>
                </a:ext>
              </a:extLst>
            </p:cNvPr>
            <p:cNvSpPr txBox="1"/>
            <p:nvPr/>
          </p:nvSpPr>
          <p:spPr>
            <a:xfrm>
              <a:off x="5440873" y="4376829"/>
              <a:ext cx="43601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Olympics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E33B3E-9D92-E42C-C8E6-68E547F4FD30}"/>
                </a:ext>
              </a:extLst>
            </p:cNvPr>
            <p:cNvSpPr txBox="1"/>
            <p:nvPr/>
          </p:nvSpPr>
          <p:spPr>
            <a:xfrm>
              <a:off x="5440873" y="3796322"/>
              <a:ext cx="62998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Public Sector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154A60D-CAEE-3452-8B4F-D952795C04A2}"/>
                </a:ext>
              </a:extLst>
            </p:cNvPr>
            <p:cNvSpPr txBox="1"/>
            <p:nvPr/>
          </p:nvSpPr>
          <p:spPr>
            <a:xfrm>
              <a:off x="5440873" y="3211734"/>
              <a:ext cx="74058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Pioneer Startup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8D04E5-765A-775D-A930-89978BA4C582}"/>
                </a:ext>
              </a:extLst>
            </p:cNvPr>
            <p:cNvSpPr txBox="1"/>
            <p:nvPr/>
          </p:nvSpPr>
          <p:spPr>
            <a:xfrm>
              <a:off x="5440873" y="2627146"/>
              <a:ext cx="1155766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Global Battery Materials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B392E6-36F0-01BC-0A43-F48CC7E28E6F}"/>
                </a:ext>
              </a:extLst>
            </p:cNvPr>
            <p:cNvSpPr txBox="1"/>
            <p:nvPr/>
          </p:nvSpPr>
          <p:spPr>
            <a:xfrm>
              <a:off x="5440873" y="2042558"/>
              <a:ext cx="146674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Independent &amp; Stealth Venture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122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1474-D849-8D2F-C923-D2FE1CA5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EC0A093-6E9C-CD9A-32D3-95B62AD72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48843-B0C8-092D-7561-1AA48F670C4F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812BCB3-6359-2E51-9C7A-D9287C7D1280}"/>
              </a:ext>
            </a:extLst>
          </p:cNvPr>
          <p:cNvGrpSpPr/>
          <p:nvPr/>
        </p:nvGrpSpPr>
        <p:grpSpPr>
          <a:xfrm>
            <a:off x="3806247" y="1756493"/>
            <a:ext cx="1626067" cy="5101507"/>
            <a:chOff x="5281554" y="1756493"/>
            <a:chExt cx="1626067" cy="5101507"/>
          </a:xfrm>
        </p:grpSpPr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0C11F0A8-6200-148E-D8E8-C2792703D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145" y="1756493"/>
              <a:ext cx="0" cy="5101507"/>
            </a:xfrm>
            <a:prstGeom prst="straightConnector1">
              <a:avLst/>
            </a:prstGeom>
            <a:ln w="1270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chemeClr val="tx1">
                      <a:alpha val="0"/>
                    </a:schemeClr>
                  </a:gs>
                </a:gsLst>
                <a:lin ang="5400000" scaled="1"/>
              </a:gra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C3736004-1EEB-1AB8-24CF-01BB7B7294F1}"/>
                </a:ext>
              </a:extLst>
            </p:cNvPr>
            <p:cNvSpPr/>
            <p:nvPr/>
          </p:nvSpPr>
          <p:spPr>
            <a:xfrm>
              <a:off x="5281554" y="2065524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9849476-0503-C3E1-F380-A6787055AE07}"/>
                </a:ext>
              </a:extLst>
            </p:cNvPr>
            <p:cNvSpPr/>
            <p:nvPr/>
          </p:nvSpPr>
          <p:spPr>
            <a:xfrm>
              <a:off x="5281554" y="2650112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5CA588A-C920-2DC0-A732-34F4703E250F}"/>
                </a:ext>
              </a:extLst>
            </p:cNvPr>
            <p:cNvSpPr/>
            <p:nvPr/>
          </p:nvSpPr>
          <p:spPr>
            <a:xfrm>
              <a:off x="5281554" y="3234700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8844728F-55C4-EBD9-3A75-FA4E7549770F}"/>
                </a:ext>
              </a:extLst>
            </p:cNvPr>
            <p:cNvSpPr/>
            <p:nvPr/>
          </p:nvSpPr>
          <p:spPr>
            <a:xfrm>
              <a:off x="5281554" y="3819288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B36792ED-B385-5799-6200-F22E62A1B16D}"/>
                </a:ext>
              </a:extLst>
            </p:cNvPr>
            <p:cNvSpPr/>
            <p:nvPr/>
          </p:nvSpPr>
          <p:spPr>
            <a:xfrm>
              <a:off x="5281554" y="4403875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FC84547-C28A-EA18-B34B-BA267E6D1FD8}"/>
                </a:ext>
              </a:extLst>
            </p:cNvPr>
            <p:cNvSpPr txBox="1"/>
            <p:nvPr/>
          </p:nvSpPr>
          <p:spPr>
            <a:xfrm>
              <a:off x="5440873" y="4376829"/>
              <a:ext cx="43601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Olympics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C693B30-E661-3F8F-F3D3-6F9F1B354AFE}"/>
                </a:ext>
              </a:extLst>
            </p:cNvPr>
            <p:cNvSpPr txBox="1"/>
            <p:nvPr/>
          </p:nvSpPr>
          <p:spPr>
            <a:xfrm>
              <a:off x="5440873" y="3796322"/>
              <a:ext cx="62998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Public Sector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2EAF669-B3B5-2422-8572-06D93D19F867}"/>
                </a:ext>
              </a:extLst>
            </p:cNvPr>
            <p:cNvSpPr txBox="1"/>
            <p:nvPr/>
          </p:nvSpPr>
          <p:spPr>
            <a:xfrm>
              <a:off x="5440873" y="3211734"/>
              <a:ext cx="74058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Pioneer Startup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4283735-8EE2-89D6-2182-36EA012CE178}"/>
                </a:ext>
              </a:extLst>
            </p:cNvPr>
            <p:cNvSpPr txBox="1"/>
            <p:nvPr/>
          </p:nvSpPr>
          <p:spPr>
            <a:xfrm>
              <a:off x="5440873" y="2627146"/>
              <a:ext cx="1155766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Global Battery Materials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3820545-4B3A-5113-0700-48BBE5427DDA}"/>
                </a:ext>
              </a:extLst>
            </p:cNvPr>
            <p:cNvSpPr txBox="1"/>
            <p:nvPr/>
          </p:nvSpPr>
          <p:spPr>
            <a:xfrm>
              <a:off x="5440873" y="2042558"/>
              <a:ext cx="146674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Independent &amp; Stealth Venture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814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05B6-C95E-BB38-77B5-5E394A5EC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9A633DE-FFB2-BA1B-C4AD-2EE8A0F1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E168C-EA8B-F58D-9924-573A44790AB6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6A9181-C9DD-D846-1E01-9196FC0559C6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6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1193063-B12B-9096-3FCE-B6CB069F9874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538CFA-ABB1-B5FC-93FB-A511F0FDFEED}"/>
              </a:ext>
            </a:extLst>
          </p:cNvPr>
          <p:cNvGrpSpPr/>
          <p:nvPr/>
        </p:nvGrpSpPr>
        <p:grpSpPr>
          <a:xfrm>
            <a:off x="3806247" y="1756493"/>
            <a:ext cx="1626067" cy="5101507"/>
            <a:chOff x="5281554" y="1756493"/>
            <a:chExt cx="1626067" cy="5101507"/>
          </a:xfrm>
        </p:grpSpPr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23D3ADEC-EC84-C7C1-D1BF-4AAD7B894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145" y="1756493"/>
              <a:ext cx="0" cy="5101507"/>
            </a:xfrm>
            <a:prstGeom prst="straightConnector1">
              <a:avLst/>
            </a:prstGeom>
            <a:ln w="1270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chemeClr val="tx1">
                      <a:alpha val="0"/>
                    </a:schemeClr>
                  </a:gs>
                </a:gsLst>
                <a:lin ang="5400000" scaled="1"/>
              </a:gra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D4B8A6B-78A6-4A17-7BFA-74B6E21B50D3}"/>
                </a:ext>
              </a:extLst>
            </p:cNvPr>
            <p:cNvSpPr/>
            <p:nvPr/>
          </p:nvSpPr>
          <p:spPr>
            <a:xfrm>
              <a:off x="5281554" y="2065524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330B4DBC-F008-EF12-0DD1-04D36F20CFDC}"/>
                </a:ext>
              </a:extLst>
            </p:cNvPr>
            <p:cNvSpPr/>
            <p:nvPr/>
          </p:nvSpPr>
          <p:spPr>
            <a:xfrm>
              <a:off x="5281554" y="2650112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64F132B-5A71-6C88-3B14-9F3BA53AF71D}"/>
                </a:ext>
              </a:extLst>
            </p:cNvPr>
            <p:cNvSpPr/>
            <p:nvPr/>
          </p:nvSpPr>
          <p:spPr>
            <a:xfrm>
              <a:off x="5281554" y="3234700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E56AACA9-4F1E-A525-CCFC-2AC790902280}"/>
                </a:ext>
              </a:extLst>
            </p:cNvPr>
            <p:cNvSpPr/>
            <p:nvPr/>
          </p:nvSpPr>
          <p:spPr>
            <a:xfrm>
              <a:off x="5281554" y="3819288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67895671-9656-44B7-EC7B-EA740A0A0823}"/>
                </a:ext>
              </a:extLst>
            </p:cNvPr>
            <p:cNvSpPr/>
            <p:nvPr/>
          </p:nvSpPr>
          <p:spPr>
            <a:xfrm>
              <a:off x="5281554" y="4403875"/>
              <a:ext cx="77181" cy="77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321C1A6-7C42-C2D1-24D0-E7E0F8B8BAE0}"/>
                </a:ext>
              </a:extLst>
            </p:cNvPr>
            <p:cNvSpPr txBox="1"/>
            <p:nvPr/>
          </p:nvSpPr>
          <p:spPr>
            <a:xfrm>
              <a:off x="5440873" y="4376829"/>
              <a:ext cx="43601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Olympics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C52FD48-EF62-BAD8-B8A7-E711A5C25508}"/>
                </a:ext>
              </a:extLst>
            </p:cNvPr>
            <p:cNvSpPr txBox="1"/>
            <p:nvPr/>
          </p:nvSpPr>
          <p:spPr>
            <a:xfrm>
              <a:off x="5440873" y="3796322"/>
              <a:ext cx="62998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Public Sector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359641-70F3-727C-F60D-5A2EC0593E66}"/>
                </a:ext>
              </a:extLst>
            </p:cNvPr>
            <p:cNvSpPr txBox="1"/>
            <p:nvPr/>
          </p:nvSpPr>
          <p:spPr>
            <a:xfrm>
              <a:off x="5440873" y="3211734"/>
              <a:ext cx="74058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Pioneer Startup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6E1BD1-C0BD-B896-BAA0-70B512042B73}"/>
                </a:ext>
              </a:extLst>
            </p:cNvPr>
            <p:cNvSpPr txBox="1"/>
            <p:nvPr/>
          </p:nvSpPr>
          <p:spPr>
            <a:xfrm>
              <a:off x="5440873" y="2627146"/>
              <a:ext cx="1155766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Global Battery Materials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3E0588-F106-06C3-63F7-963D31BA1CD5}"/>
                </a:ext>
              </a:extLst>
            </p:cNvPr>
            <p:cNvSpPr txBox="1"/>
            <p:nvPr/>
          </p:nvSpPr>
          <p:spPr>
            <a:xfrm>
              <a:off x="5440873" y="2042558"/>
              <a:ext cx="146674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Independent &amp; Stealth Venture</a:t>
              </a:r>
              <a:endParaRPr lang="ko-KR" altLang="en-US" sz="8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7B7C1B0-A395-536B-DCAF-E4A3939046EE}"/>
              </a:ext>
            </a:extLst>
          </p:cNvPr>
          <p:cNvSpPr/>
          <p:nvPr/>
        </p:nvSpPr>
        <p:spPr>
          <a:xfrm>
            <a:off x="7279903" y="4481056"/>
            <a:ext cx="4319905" cy="773232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이동이 완성되면 각 점들은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Hover, Click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해주길 바라듯이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아주아주 실눈을 뜨고 봐야할 정도로 경미한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Pulse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효과로 흰색 모든 점들이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동일한 시간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동일한 다소 천천히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2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초간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3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회 반복 속도로 계속 두근거립니다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시각적으로 거슬리지 않게 아주 미미하게 두근거립니다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5496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BA24-DFAD-AEB1-1BA8-87C15C16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C3E97C9-B3F1-316B-4A8B-EB99731C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F79A0-3138-7EDE-EC54-1EA62A370090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75A6208-FF2E-7B47-AE26-83983D4D2A49}"/>
              </a:ext>
            </a:extLst>
          </p:cNvPr>
          <p:cNvGrpSpPr/>
          <p:nvPr/>
        </p:nvGrpSpPr>
        <p:grpSpPr>
          <a:xfrm>
            <a:off x="3806247" y="1756493"/>
            <a:ext cx="4541404" cy="5101507"/>
            <a:chOff x="4255129" y="1756493"/>
            <a:chExt cx="4541404" cy="510150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2D1FCAA2-5777-45E9-2BB6-2BE21E64D98A}"/>
                </a:ext>
              </a:extLst>
            </p:cNvPr>
            <p:cNvGrpSpPr/>
            <p:nvPr/>
          </p:nvGrpSpPr>
          <p:grpSpPr>
            <a:xfrm>
              <a:off x="4255129" y="1756493"/>
              <a:ext cx="1656524" cy="5101507"/>
              <a:chOff x="5281554" y="1756493"/>
              <a:chExt cx="1656524" cy="5101507"/>
            </a:xfrm>
          </p:grpSpPr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59415D2E-CD7B-901B-E45B-EF6AEC29FC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20145" y="1756493"/>
                <a:ext cx="0" cy="5101507"/>
              </a:xfrm>
              <a:prstGeom prst="straightConnector1">
                <a:avLst/>
              </a:prstGeom>
              <a:ln w="12700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tx1">
                        <a:alpha val="0"/>
                      </a:schemeClr>
                    </a:gs>
                  </a:gsLst>
                  <a:lin ang="5400000" scaled="1"/>
                </a:gra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E6B6B56A-73B0-ECA3-042E-51FABF295D05}"/>
                  </a:ext>
                </a:extLst>
              </p:cNvPr>
              <p:cNvSpPr/>
              <p:nvPr/>
            </p:nvSpPr>
            <p:spPr>
              <a:xfrm>
                <a:off x="5281554" y="2065524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A376A7A3-8891-E633-2F9B-E782C3EB990C}"/>
                  </a:ext>
                </a:extLst>
              </p:cNvPr>
              <p:cNvSpPr/>
              <p:nvPr/>
            </p:nvSpPr>
            <p:spPr>
              <a:xfrm>
                <a:off x="5281554" y="2650112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05326B08-0AAC-40F2-5335-388A26463B82}"/>
                  </a:ext>
                </a:extLst>
              </p:cNvPr>
              <p:cNvSpPr/>
              <p:nvPr/>
            </p:nvSpPr>
            <p:spPr>
              <a:xfrm>
                <a:off x="5281554" y="3234700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9E62AC28-B6A9-1AAE-BC02-F2704CFD5EF6}"/>
                  </a:ext>
                </a:extLst>
              </p:cNvPr>
              <p:cNvSpPr/>
              <p:nvPr/>
            </p:nvSpPr>
            <p:spPr>
              <a:xfrm>
                <a:off x="5281554" y="3819288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F2A77DA8-D97F-CF14-4071-1A16BC1A50A8}"/>
                  </a:ext>
                </a:extLst>
              </p:cNvPr>
              <p:cNvSpPr/>
              <p:nvPr/>
            </p:nvSpPr>
            <p:spPr>
              <a:xfrm>
                <a:off x="5281554" y="4403875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9745F7E-D951-E81F-09A9-47FF5374C3DB}"/>
                  </a:ext>
                </a:extLst>
              </p:cNvPr>
              <p:cNvSpPr txBox="1"/>
              <p:nvPr/>
            </p:nvSpPr>
            <p:spPr>
              <a:xfrm>
                <a:off x="5440873" y="4376829"/>
                <a:ext cx="43601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Olympics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94EA8F9-CE16-7E16-F667-92AC271259BE}"/>
                  </a:ext>
                </a:extLst>
              </p:cNvPr>
              <p:cNvSpPr txBox="1"/>
              <p:nvPr/>
            </p:nvSpPr>
            <p:spPr>
              <a:xfrm>
                <a:off x="5440873" y="3796322"/>
                <a:ext cx="62998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Public Sector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7CC1610-4B4A-7C55-63D6-ACAADFD701C4}"/>
                  </a:ext>
                </a:extLst>
              </p:cNvPr>
              <p:cNvSpPr txBox="1"/>
              <p:nvPr/>
            </p:nvSpPr>
            <p:spPr>
              <a:xfrm>
                <a:off x="5440873" y="3211734"/>
                <a:ext cx="7405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Pioneer Startup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1AFF0F3-5212-0D0D-A0D7-7B14D2B0A0CA}"/>
                  </a:ext>
                </a:extLst>
              </p:cNvPr>
              <p:cNvSpPr txBox="1"/>
              <p:nvPr/>
            </p:nvSpPr>
            <p:spPr>
              <a:xfrm>
                <a:off x="5440873" y="2627146"/>
                <a:ext cx="115576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Global Battery Materials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FF964B-81CB-E855-FD1A-17881E78AA3A}"/>
                  </a:ext>
                </a:extLst>
              </p:cNvPr>
              <p:cNvSpPr txBox="1"/>
              <p:nvPr/>
            </p:nvSpPr>
            <p:spPr>
              <a:xfrm>
                <a:off x="5440873" y="2042558"/>
                <a:ext cx="149720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Independent &amp; Stealth Venture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8599E6-FC2C-B70C-E6CA-1CFDA483A2FD}"/>
                </a:ext>
              </a:extLst>
            </p:cNvPr>
            <p:cNvSpPr txBox="1"/>
            <p:nvPr/>
          </p:nvSpPr>
          <p:spPr>
            <a:xfrm>
              <a:off x="4971192" y="4376829"/>
              <a:ext cx="2649764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평창동계올림픽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,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세계게임올림픽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,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도쿄올림픽 기획 및 운영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PM</a:t>
              </a:r>
              <a:endParaRPr lang="ko-KR" altLang="en-US" sz="800" spc="-2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B27DD86-544E-F9D4-A35E-900CFFCFD998}"/>
                </a:ext>
              </a:extLst>
            </p:cNvPr>
            <p:cNvSpPr txBox="1"/>
            <p:nvPr/>
          </p:nvSpPr>
          <p:spPr>
            <a:xfrm>
              <a:off x="5126567" y="3796322"/>
              <a:ext cx="3433632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국내 최초 특수목적 복합공간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5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개년 중장기 전략 총괄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전문조사연구 및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대외협력 담당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4412B79-D01D-2F71-8BF5-1ED05ADFE06E}"/>
                </a:ext>
              </a:extLst>
            </p:cNvPr>
            <p:cNvSpPr txBox="1"/>
            <p:nvPr/>
          </p:nvSpPr>
          <p:spPr>
            <a:xfrm>
              <a:off x="5237173" y="3216553"/>
              <a:ext cx="274786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국내 최초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K-PPM CSAP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인증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,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 북미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GTM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기획담당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경영기획실장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D48E218-1767-F252-C809-9563B07DAD80}"/>
                </a:ext>
              </a:extLst>
            </p:cNvPr>
            <p:cNvSpPr txBox="1"/>
            <p:nvPr/>
          </p:nvSpPr>
          <p:spPr>
            <a:xfrm>
              <a:off x="5652352" y="2634820"/>
              <a:ext cx="262507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중장기 전략 수립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및 순환경제 생태계 구축 총괄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전략기획 파트장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84CD72-55D7-E340-6D18-583F6EE73CF5}"/>
                </a:ext>
              </a:extLst>
            </p:cNvPr>
            <p:cNvSpPr txBox="1"/>
            <p:nvPr/>
          </p:nvSpPr>
          <p:spPr>
            <a:xfrm>
              <a:off x="5955691" y="2040655"/>
              <a:ext cx="2840842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C-Level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전략 자문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&amp; LCA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기반 순환경제 벤처 창립팀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자문역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&amp; CSO</a:t>
              </a:r>
              <a:endParaRPr lang="ko-KR" altLang="en-US" sz="800" spc="-2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059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860E-4041-100F-E305-41BFA8EB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D3B8DF-CC4B-0979-E97F-D308CBE1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BBD740-588D-B627-A22C-04F1FDC100A5}"/>
              </a:ext>
            </a:extLst>
          </p:cNvPr>
          <p:cNvSpPr txBox="1"/>
          <p:nvPr/>
        </p:nvSpPr>
        <p:spPr>
          <a:xfrm>
            <a:off x="4160983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궤적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1FE42D-9118-F4CC-661E-A5E2742C0194}"/>
              </a:ext>
            </a:extLst>
          </p:cNvPr>
          <p:cNvSpPr/>
          <p:nvPr/>
        </p:nvSpPr>
        <p:spPr>
          <a:xfrm>
            <a:off x="7279911" y="4481056"/>
            <a:ext cx="4319905" cy="1709680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각 점들과 오른쪽 글씨는 하나의 그룹입니다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점에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글자에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해도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아래의 효과를 동일하게 가집니다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6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 화면에서 각 점이나 글자에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하면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</a:t>
            </a: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현재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7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 화면의 예시처럼 오른쪽 글들이 타자처럼 쳐집니다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지금 페이지는 전체 작동했을 때를 가정하는 예시이며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</a:t>
            </a: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하나씩 별도로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하면 동작해야 합니다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Hover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 할 때 기존의 글자와 새롭게 도출되는 글자 간격은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5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개모두 동일해야 합니다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69C156-D9FB-C410-FE08-9A6E7EE58E5E}"/>
              </a:ext>
            </a:extLst>
          </p:cNvPr>
          <p:cNvSpPr/>
          <p:nvPr/>
        </p:nvSpPr>
        <p:spPr>
          <a:xfrm>
            <a:off x="11599816" y="0"/>
            <a:ext cx="592183" cy="60484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7</a:t>
            </a:r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번</a:t>
            </a:r>
            <a:endParaRPr lang="en-US" altLang="ko-KR" sz="16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6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화면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B96CE90-BA80-5CD5-08A2-697AD285C0B9}"/>
              </a:ext>
            </a:extLst>
          </p:cNvPr>
          <p:cNvGrpSpPr/>
          <p:nvPr/>
        </p:nvGrpSpPr>
        <p:grpSpPr>
          <a:xfrm>
            <a:off x="3806247" y="1756493"/>
            <a:ext cx="4541404" cy="5101507"/>
            <a:chOff x="4255129" y="1756493"/>
            <a:chExt cx="4541404" cy="510150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2DD8D0E-F153-C340-2E0A-DFCA12210F94}"/>
                </a:ext>
              </a:extLst>
            </p:cNvPr>
            <p:cNvGrpSpPr/>
            <p:nvPr/>
          </p:nvGrpSpPr>
          <p:grpSpPr>
            <a:xfrm>
              <a:off x="4255129" y="1756493"/>
              <a:ext cx="1656524" cy="5101507"/>
              <a:chOff x="5281554" y="1756493"/>
              <a:chExt cx="1656524" cy="5101507"/>
            </a:xfrm>
          </p:grpSpPr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BBBC6B77-6D1A-0D5C-820F-01D60D949C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20145" y="1756493"/>
                <a:ext cx="0" cy="5101507"/>
              </a:xfrm>
              <a:prstGeom prst="straightConnector1">
                <a:avLst/>
              </a:prstGeom>
              <a:ln w="12700"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tx1">
                        <a:alpha val="0"/>
                      </a:schemeClr>
                    </a:gs>
                  </a:gsLst>
                  <a:lin ang="5400000" scaled="1"/>
                </a:gra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5DF46F01-8BD5-44CA-B1D0-6C4BD2119D34}"/>
                  </a:ext>
                </a:extLst>
              </p:cNvPr>
              <p:cNvSpPr/>
              <p:nvPr/>
            </p:nvSpPr>
            <p:spPr>
              <a:xfrm>
                <a:off x="5281554" y="2065524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F111FA84-0278-9FDC-266C-1EEBDEBF2008}"/>
                  </a:ext>
                </a:extLst>
              </p:cNvPr>
              <p:cNvSpPr/>
              <p:nvPr/>
            </p:nvSpPr>
            <p:spPr>
              <a:xfrm>
                <a:off x="5281554" y="2650112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5DC591F5-FFCE-975A-DC24-EEF69C0AE782}"/>
                  </a:ext>
                </a:extLst>
              </p:cNvPr>
              <p:cNvSpPr/>
              <p:nvPr/>
            </p:nvSpPr>
            <p:spPr>
              <a:xfrm>
                <a:off x="5281554" y="3234700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3EAF2BCC-F2E8-F7A7-930F-54141FD0746C}"/>
                  </a:ext>
                </a:extLst>
              </p:cNvPr>
              <p:cNvSpPr/>
              <p:nvPr/>
            </p:nvSpPr>
            <p:spPr>
              <a:xfrm>
                <a:off x="5281554" y="3819288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94A4CA7F-DAB9-6BB9-3425-74773E5D39F8}"/>
                  </a:ext>
                </a:extLst>
              </p:cNvPr>
              <p:cNvSpPr/>
              <p:nvPr/>
            </p:nvSpPr>
            <p:spPr>
              <a:xfrm>
                <a:off x="5281554" y="4403875"/>
                <a:ext cx="77181" cy="77181"/>
              </a:xfrm>
              <a:prstGeom prst="ellipse">
                <a:avLst/>
              </a:prstGeom>
              <a:solidFill>
                <a:srgbClr val="00FFCC"/>
              </a:solidFill>
              <a:ln>
                <a:noFill/>
              </a:ln>
              <a:effectLst>
                <a:glow rad="127000">
                  <a:srgbClr val="00FFCC">
                    <a:alpha val="2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8FAEAC7-984F-D856-7CC7-67135AE6844D}"/>
                  </a:ext>
                </a:extLst>
              </p:cNvPr>
              <p:cNvSpPr txBox="1"/>
              <p:nvPr/>
            </p:nvSpPr>
            <p:spPr>
              <a:xfrm>
                <a:off x="5440873" y="4376829"/>
                <a:ext cx="43601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Olympics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ED2F35C-8D52-B254-068E-E8185BB1F203}"/>
                  </a:ext>
                </a:extLst>
              </p:cNvPr>
              <p:cNvSpPr txBox="1"/>
              <p:nvPr/>
            </p:nvSpPr>
            <p:spPr>
              <a:xfrm>
                <a:off x="5440873" y="3796322"/>
                <a:ext cx="62998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Public Sector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A7B47D-6116-C610-4141-318488FDDBB5}"/>
                  </a:ext>
                </a:extLst>
              </p:cNvPr>
              <p:cNvSpPr txBox="1"/>
              <p:nvPr/>
            </p:nvSpPr>
            <p:spPr>
              <a:xfrm>
                <a:off x="5440873" y="3211734"/>
                <a:ext cx="74058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Pioneer Startup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2F01D35-B041-F106-4A3A-F02F1A9B5CB3}"/>
                  </a:ext>
                </a:extLst>
              </p:cNvPr>
              <p:cNvSpPr txBox="1"/>
              <p:nvPr/>
            </p:nvSpPr>
            <p:spPr>
              <a:xfrm>
                <a:off x="5440873" y="2627146"/>
                <a:ext cx="1155766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Global Battery Materials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D5490A-E37F-C4F6-D7F0-F2962C51B60C}"/>
                  </a:ext>
                </a:extLst>
              </p:cNvPr>
              <p:cNvSpPr txBox="1"/>
              <p:nvPr/>
            </p:nvSpPr>
            <p:spPr>
              <a:xfrm>
                <a:off x="5440873" y="2042558"/>
                <a:ext cx="1497205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800">
                    <a:ln>
                      <a:solidFill>
                        <a:srgbClr val="00FFCC">
                          <a:alpha val="20000"/>
                        </a:srgbClr>
                      </a:solidFill>
                    </a:ln>
                    <a:solidFill>
                      <a:srgbClr val="00FFCC"/>
                    </a:solidFill>
                    <a:effectLst>
                      <a:glow rad="127000">
                        <a:srgbClr val="00FFCC">
                          <a:alpha val="20000"/>
                        </a:srgbClr>
                      </a:glow>
                    </a:effectLst>
                    <a:latin typeface="a고딕15" panose="02020600000000000000" pitchFamily="18" charset="-127"/>
                    <a:ea typeface="a고딕15" panose="02020600000000000000" pitchFamily="18" charset="-127"/>
                  </a:rPr>
                  <a:t>Independent &amp; Stealth Venture</a:t>
                </a:r>
                <a:endParaRPr lang="ko-KR" altLang="en-US" sz="800">
                  <a:ln>
                    <a:solidFill>
                      <a:srgbClr val="00FFCC">
                        <a:alpha val="20000"/>
                      </a:srgbClr>
                    </a:solidFill>
                  </a:ln>
                  <a:solidFill>
                    <a:srgbClr val="00FFCC"/>
                  </a:solidFill>
                  <a:effectLst>
                    <a:glow rad="127000">
                      <a:srgbClr val="00FFCC">
                        <a:alpha val="20000"/>
                      </a:srgbClr>
                    </a:glow>
                  </a:effectLst>
                  <a:latin typeface="a고딕15" panose="02020600000000000000" pitchFamily="18" charset="-127"/>
                  <a:ea typeface="a고딕15" panose="02020600000000000000" pitchFamily="18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D8F12C-88C3-01E7-2317-2FD8F259BD1F}"/>
                </a:ext>
              </a:extLst>
            </p:cNvPr>
            <p:cNvSpPr txBox="1"/>
            <p:nvPr/>
          </p:nvSpPr>
          <p:spPr>
            <a:xfrm>
              <a:off x="4971192" y="4376829"/>
              <a:ext cx="2649764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평창동계올림픽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,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세계게임올림픽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,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도쿄올림픽 기획 및 운영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PM</a:t>
              </a:r>
              <a:endParaRPr lang="ko-KR" altLang="en-US" sz="800" spc="-2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4C30B3-4C42-7BCA-A510-4D3D0079B908}"/>
                </a:ext>
              </a:extLst>
            </p:cNvPr>
            <p:cNvSpPr txBox="1"/>
            <p:nvPr/>
          </p:nvSpPr>
          <p:spPr>
            <a:xfrm>
              <a:off x="5126567" y="3796322"/>
              <a:ext cx="3433632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국내 최초 특수목적 복합공간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5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개년 중장기 전략 총괄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전문조사연구 및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대외협력 담당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3420B6-D35B-536E-ECEB-3F59170F18BC}"/>
                </a:ext>
              </a:extLst>
            </p:cNvPr>
            <p:cNvSpPr txBox="1"/>
            <p:nvPr/>
          </p:nvSpPr>
          <p:spPr>
            <a:xfrm>
              <a:off x="5237173" y="3216553"/>
              <a:ext cx="274786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국내 최초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K-PPM CSAP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인증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,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 북미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GTM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기획담당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경영기획실장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5DE2DB4-7FDB-99E1-D12D-8D1769903680}"/>
                </a:ext>
              </a:extLst>
            </p:cNvPr>
            <p:cNvSpPr txBox="1"/>
            <p:nvPr/>
          </p:nvSpPr>
          <p:spPr>
            <a:xfrm>
              <a:off x="5652352" y="2634820"/>
              <a:ext cx="2625078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중장기 전략 수립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및 순환경제 생태계 구축 총괄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전략기획 파트장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983DEF-1897-64A3-609B-3524D140F4DB}"/>
                </a:ext>
              </a:extLst>
            </p:cNvPr>
            <p:cNvSpPr txBox="1"/>
            <p:nvPr/>
          </p:nvSpPr>
          <p:spPr>
            <a:xfrm>
              <a:off x="5955691" y="2040655"/>
              <a:ext cx="2840842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C-Level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전략 자문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&amp; LCA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기반 순환경제 벤처 창립팀 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|  </a:t>
              </a:r>
              <a:r>
                <a:rPr lang="ko-KR" altLang="en-US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자문역 </a:t>
              </a:r>
              <a:r>
                <a:rPr lang="en-US" altLang="ko-KR" sz="800" spc="-2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  <a:latin typeface="a고딕15" panose="02020600000000000000" pitchFamily="18" charset="-127"/>
                  <a:ea typeface="a고딕15" panose="02020600000000000000" pitchFamily="18" charset="-127"/>
                </a:rPr>
                <a:t>&amp; CSO</a:t>
              </a:r>
              <a:endParaRPr lang="ko-KR" altLang="en-US" sz="800" spc="-2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6B71D4-3A26-8BB9-3EFE-3F04B2D5DFAF}"/>
              </a:ext>
            </a:extLst>
          </p:cNvPr>
          <p:cNvSpPr/>
          <p:nvPr/>
        </p:nvSpPr>
        <p:spPr>
          <a:xfrm>
            <a:off x="6131189" y="167254"/>
            <a:ext cx="588699" cy="199158"/>
          </a:xfrm>
          <a:prstGeom prst="rect">
            <a:avLst/>
          </a:prstGeom>
          <a:solidFill>
            <a:schemeClr val="tx1"/>
          </a:solidFill>
          <a:ln w="63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endParaRPr lang="en-US" altLang="ko-KR" sz="8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2659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9C455-B49A-24D9-1EB9-E8D4DE97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6EE8A94-37D6-CD5D-1D95-60A6C6A32B2A}"/>
              </a:ext>
            </a:extLst>
          </p:cNvPr>
          <p:cNvSpPr/>
          <p:nvPr/>
        </p:nvSpPr>
        <p:spPr>
          <a:xfrm>
            <a:off x="3936048" y="2574160"/>
            <a:ext cx="4319905" cy="1709680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이 모든 것들은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‘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여정과 궤적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’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을 누르면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한 화면에서 모두 동작하면서 동시다발적으로 이루어지는 것으로</a:t>
            </a:r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페이지를 나누어 설명한 것이지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페이지가 나누어져야 하는 것은 절대 아니다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모든 기능들을 한페이지에 종합하여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Interactive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한 페이지로 만들어라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  <a:p>
            <a:pPr algn="ctr"/>
            <a:endParaRPr lang="en-US" altLang="ko-KR" sz="1000">
              <a:ln>
                <a:solidFill>
                  <a:schemeClr val="bg1">
                    <a:alpha val="10000"/>
                  </a:schemeClr>
                </a:solidFill>
              </a:ln>
            </a:endParaRPr>
          </a:p>
          <a:p>
            <a:pPr algn="ctr"/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디자인은 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Simple &amp; Impact &amp; High-end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를 명심하라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8652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고딕 시리즈">
      <a:majorFont>
        <a:latin typeface="a고딕17"/>
        <a:ea typeface="a고딕17"/>
        <a:cs typeface=""/>
      </a:majorFont>
      <a:minorFont>
        <a:latin typeface="a고딕15"/>
        <a:ea typeface="a고딕15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wrap="none" lIns="0" tIns="0" rIns="0" bIns="0" rtlCol="0" anchor="ctr"/>
      <a:lstStyle>
        <a:defPPr algn="ctr">
          <a:defRPr smtClean="0">
            <a:ln>
              <a:solidFill>
                <a:schemeClr val="bg1">
                  <a:alpha val="10000"/>
                </a:schemeClr>
              </a:solidFill>
            </a:ln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500" smtClean="0">
            <a:ln>
              <a:solidFill>
                <a:schemeClr val="tx1">
                  <a:alpha val="10000"/>
                </a:schemeClr>
              </a:solidFill>
            </a:ln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템플릿" id="{420CF08B-BE6F-40CF-A654-03D550DB1B3D}" vid="{867BDC93-DA8B-445B-941A-36C2330EDD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228</TotalTime>
  <Words>660</Words>
  <Application>Microsoft Office PowerPoint</Application>
  <PresentationFormat>와이드스크린</PresentationFormat>
  <Paragraphs>125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a고딕15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YOUNGRYEOL CHOI</dc:creator>
  <cp:lastModifiedBy>YOUNGRYEOL CHOI</cp:lastModifiedBy>
  <cp:revision>4</cp:revision>
  <dcterms:created xsi:type="dcterms:W3CDTF">2026-04-13T07:21:24Z</dcterms:created>
  <dcterms:modified xsi:type="dcterms:W3CDTF">2026-04-13T11:29:58Z</dcterms:modified>
</cp:coreProperties>
</file>