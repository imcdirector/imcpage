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67" r:id="rId3"/>
    <p:sldId id="256" r:id="rId4"/>
    <p:sldId id="266" r:id="rId5"/>
    <p:sldId id="272" r:id="rId6"/>
    <p:sldId id="271" r:id="rId7"/>
    <p:sldId id="264" r:id="rId8"/>
    <p:sldId id="263" r:id="rId9"/>
    <p:sldId id="262" r:id="rId10"/>
    <p:sldId id="259" r:id="rId11"/>
    <p:sldId id="260" r:id="rId12"/>
    <p:sldId id="257" r:id="rId13"/>
    <p:sldId id="25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4장" id="{36EDE9D4-7E71-4D39-9316-D90EF5DEA476}">
          <p14:sldIdLst>
            <p14:sldId id="270"/>
            <p14:sldId id="267"/>
          </p14:sldIdLst>
        </p14:section>
        <p14:section name="5장" id="{B118928F-E7E9-495B-9E25-061CA5BD22C3}">
          <p14:sldIdLst>
            <p14:sldId id="256"/>
            <p14:sldId id="266"/>
            <p14:sldId id="272"/>
            <p14:sldId id="271"/>
            <p14:sldId id="264"/>
            <p14:sldId id="263"/>
            <p14:sldId id="262"/>
            <p14:sldId id="259"/>
            <p14:sldId id="260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CC"/>
    <a:srgbClr val="66FF66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184" y="1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910C0-AB40-87EA-C836-592303835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8472FC-D7FA-6DAA-55F7-11A990291C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63ECA9-E2C1-1C12-37E1-6490A9591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F681-256C-4C2F-9D82-501B8A3BB68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A75CB1-0CD6-B24C-EECE-28EDED7D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BCAAE4-3A87-ED6D-E111-902C82E6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73EB-6221-47AA-84A5-0D92FB1D95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507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0945F-3149-DA9A-96A5-2EC51B896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017C02-46C4-1316-8433-8460EEF39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A9C265-6374-1C4E-F9D8-97F7F9F2B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F681-256C-4C2F-9D82-501B8A3BB68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5CFCDE-B50D-863E-F4D7-E0CEE07A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22CA38-EC39-7C4D-AC16-857586EC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73EB-6221-47AA-84A5-0D92FB1D95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41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9194E1-141A-D9B0-3433-0AFA1088B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D943B1-5B01-716B-D124-964A9102F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435B84-5C8B-D49E-5F45-A58B31EC8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F681-256C-4C2F-9D82-501B8A3BB68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E1653E-E487-62FD-13AB-68CD87284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24AF29-F5F3-32FB-AD48-3D17A3E7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73EB-6221-47AA-84A5-0D92FB1D95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00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FF5F7-E00A-72CD-7728-0EA813B2F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13C694-E295-079B-DC6C-52DEA1FFFA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1837EF-0BB7-A804-A21B-92820E6E6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C19FEE-AE72-F41B-2E74-71A97013E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F681-256C-4C2F-9D82-501B8A3BB68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991569-F0FE-F4C0-D40A-8B6D60BB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27D37C-745F-EA67-987A-1CDA24D9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73EB-6221-47AA-84A5-0D92FB1D95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800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C48880-8449-A68D-1CB9-15E270735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AF842D-2247-C365-54B3-C2AAC3456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52CA23-024F-6A97-FA48-51EE7D040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CCDA60-5DD7-74F7-0447-2158B7611A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886833-6B4D-90BE-C52C-D4012AD366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DCF37AF-F3AA-B63D-D3C4-6D2F2B34F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F681-256C-4C2F-9D82-501B8A3BB68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84EC6F-4E95-EE08-0288-8F27F00FC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A9D190-2465-01A1-D159-0D82992EE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73EB-6221-47AA-84A5-0D92FB1D95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232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22799A-0D1C-FBC6-1BAC-21D2E2D01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748D3F-3B84-1DDA-043B-5E2BB81C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F681-256C-4C2F-9D82-501B8A3BB68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FE1E77-7609-89F1-AEDE-7A997300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D80E49-62ED-826E-96B2-606F3EC6A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73EB-6221-47AA-84A5-0D92FB1D95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21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0EC0989-4F94-7200-61C0-9E7DBBF66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F681-256C-4C2F-9D82-501B8A3BB68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EF9B3C-B109-D17B-88A9-EAFDA190A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474510-081D-F1A1-9A30-67CCB220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73EB-6221-47AA-84A5-0D92FB1D95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24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790FF0-2B1F-148C-42A7-897CC9B92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D9CB94-8234-481A-438A-85F79F103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601194-35D5-22C2-602A-FA052C2E5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A54CC9-FA16-3CAC-9263-7745F9BA4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F681-256C-4C2F-9D82-501B8A3BB68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96324B-EF00-6256-C20D-438F19F60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DEF4C1-DB8C-48FF-5337-6CFF70716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73EB-6221-47AA-84A5-0D92FB1D95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78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910161-7CD1-9AE3-5744-6E4F3018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7DEF1D-4707-37D4-851C-CDC9A68BBA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4E2D45-757B-58FD-9952-343452500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2BAA7E-9526-3243-08A3-801B25E93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F681-256C-4C2F-9D82-501B8A3BB68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7D04A3-E9F0-3C7D-7F67-09AD0E6E1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55BE9B-4AAF-94A9-A661-763E4BF59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73EB-6221-47AA-84A5-0D92FB1D95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197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13474B-47B6-23DA-93CE-35204645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E159A1-1ED2-5707-6A98-857FFD991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0548F-7666-3037-0D70-8932F2689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F681-256C-4C2F-9D82-501B8A3BB68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327986-9465-7C42-A8B9-9EF5C258A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B4F934-B8EB-B78F-B54B-CA069984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73EB-6221-47AA-84A5-0D92FB1D95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407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E082AF-839B-33BF-1A4B-1EC2732555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B334DD-6E28-073A-26A2-63E254C37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B00D92-AC56-32F6-2ECA-65CC26D90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F681-256C-4C2F-9D82-501B8A3BB68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194B53-190C-5BF9-53BD-44702F095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858EFA-2631-D9FA-F052-8A53B75D3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073EB-6221-47AA-84A5-0D92FB1D95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540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E66042-51B7-C936-5CEF-90C256CCE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158D79-03D6-6A7E-832C-E669CEF50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3AF7B7-8FDF-05E7-8E57-48FD4E306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3F681-256C-4C2F-9D82-501B8A3BB68B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A752CA-2700-9D4C-A166-7599F7AC53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789AFA-9C2D-270E-5C4D-AADB7FE0C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C073EB-6221-47AA-84A5-0D92FB1D95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869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EF99A-C566-FB62-F7EE-7CE5F5E17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29BC82D-2F76-9B44-0414-043FB8054CDD}"/>
              </a:ext>
            </a:extLst>
          </p:cNvPr>
          <p:cNvSpPr/>
          <p:nvPr/>
        </p:nvSpPr>
        <p:spPr>
          <a:xfrm>
            <a:off x="10739120" y="1"/>
            <a:ext cx="1452880" cy="426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600"/>
              <a:t>수정전 원본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318035E-7662-9D3B-4C7C-1A278274E4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51" r="7451"/>
          <a:stretch>
            <a:fillRect/>
          </a:stretch>
        </p:blipFill>
        <p:spPr>
          <a:xfrm>
            <a:off x="-1" y="0"/>
            <a:ext cx="12192001" cy="685799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496E8A3-EFA9-1CB5-A98B-F253F74D0270}"/>
              </a:ext>
            </a:extLst>
          </p:cNvPr>
          <p:cNvSpPr/>
          <p:nvPr/>
        </p:nvSpPr>
        <p:spPr>
          <a:xfrm>
            <a:off x="2814320" y="638670"/>
            <a:ext cx="6736080" cy="8535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전략은 문제 해결을 위해 존재합니다</a:t>
            </a:r>
            <a:r>
              <a:rPr lang="en-US" altLang="ko-KR" sz="1100"/>
              <a:t>. </a:t>
            </a:r>
            <a:r>
              <a:rPr lang="ko-KR" altLang="en-US" sz="1100"/>
              <a:t>고객과 고객사의 문제를 근본적으로 해결합니다</a:t>
            </a:r>
            <a:r>
              <a:rPr lang="en-US" altLang="ko-KR" sz="1100"/>
              <a:t>.</a:t>
            </a:r>
          </a:p>
          <a:p>
            <a:pPr algn="ctr"/>
            <a:r>
              <a:rPr lang="en-US" altLang="ko-KR" sz="1100"/>
              <a:t>(</a:t>
            </a:r>
            <a:r>
              <a:rPr lang="ko-KR" altLang="en-US" sz="1100"/>
              <a:t>폰트 크기와 위치</a:t>
            </a:r>
            <a:r>
              <a:rPr lang="en-US" altLang="ko-KR" sz="1100"/>
              <a:t>, </a:t>
            </a:r>
            <a:r>
              <a:rPr lang="ko-KR" altLang="en-US" sz="1100"/>
              <a:t>굵기를 모든 목차의 내용 타이틀과 동일하게 설정하라</a:t>
            </a:r>
            <a:r>
              <a:rPr lang="en-US" altLang="ko-KR" sz="1100"/>
              <a:t>)</a:t>
            </a:r>
            <a:endParaRPr lang="ko-KR" altLang="en-US" sz="11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B17081-681B-EF64-9042-26AD2C01BE16}"/>
              </a:ext>
            </a:extLst>
          </p:cNvPr>
          <p:cNvSpPr/>
          <p:nvPr/>
        </p:nvSpPr>
        <p:spPr>
          <a:xfrm>
            <a:off x="-2" y="1589349"/>
            <a:ext cx="12192001" cy="52686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8E31DC9-ADF7-BE7B-7846-B7DABEB9F128}"/>
              </a:ext>
            </a:extLst>
          </p:cNvPr>
          <p:cNvSpPr/>
          <p:nvPr/>
        </p:nvSpPr>
        <p:spPr>
          <a:xfrm>
            <a:off x="335280" y="1730295"/>
            <a:ext cx="11521440" cy="4203145"/>
          </a:xfrm>
          <a:prstGeom prst="rect">
            <a:avLst/>
          </a:prstGeom>
          <a:solidFill>
            <a:schemeClr val="tx1"/>
          </a:solidFill>
          <a:ln w="9525">
            <a:solidFill>
              <a:srgbClr val="66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8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61E1EBA-A371-88B9-D67B-5F20A1832AB7}"/>
              </a:ext>
            </a:extLst>
          </p:cNvPr>
          <p:cNvSpPr/>
          <p:nvPr/>
        </p:nvSpPr>
        <p:spPr>
          <a:xfrm>
            <a:off x="4282439" y="1466113"/>
            <a:ext cx="3627121" cy="528319"/>
          </a:xfrm>
          <a:prstGeom prst="rect">
            <a:avLst/>
          </a:prstGeom>
          <a:solidFill>
            <a:schemeClr val="tx1"/>
          </a:solidFill>
          <a:ln w="9525">
            <a:solidFill>
              <a:srgbClr val="66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ln>
                  <a:solidFill>
                    <a:srgbClr val="66FFCC"/>
                  </a:solidFill>
                </a:ln>
                <a:solidFill>
                  <a:srgbClr val="66FFCC"/>
                </a:solidFill>
              </a:rPr>
              <a:t>V4</a:t>
            </a:r>
            <a:r>
              <a:rPr lang="en-US" altLang="ko-KR" b="1"/>
              <a:t> System</a:t>
            </a:r>
            <a:r>
              <a:rPr lang="en-US" altLang="ko-KR" sz="1200" baseline="50000"/>
              <a:t>TM</a:t>
            </a:r>
            <a:endParaRPr lang="en-US" altLang="ko-KR" baseline="50000"/>
          </a:p>
          <a:p>
            <a:pPr algn="ctr"/>
            <a:r>
              <a:rPr lang="ko-KR" altLang="en-US" sz="800"/>
              <a:t>존재하는 모든 산업군에 적용 가능한 최상위 해결 구조입니다</a:t>
            </a:r>
            <a:r>
              <a:rPr lang="en-US" altLang="ko-KR" sz="800"/>
              <a:t>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4D5B84-E574-032E-AD19-FC6D6A2169A9}"/>
              </a:ext>
            </a:extLst>
          </p:cNvPr>
          <p:cNvSpPr txBox="1"/>
          <p:nvPr/>
        </p:nvSpPr>
        <p:spPr>
          <a:xfrm>
            <a:off x="598737" y="2096946"/>
            <a:ext cx="8209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■ </a:t>
            </a:r>
            <a:r>
              <a:rPr lang="en-US" altLang="ko-KR" sz="10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VECTOR Architecture</a:t>
            </a:r>
            <a:r>
              <a:rPr lang="en-US" altLang="ko-KR" sz="1000" baseline="300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TM </a:t>
            </a:r>
            <a:r>
              <a:rPr lang="en-US" altLang="ko-KR" sz="10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: 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</a:rPr>
              <a:t>모호한 상황에서 문제를 정의하고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</a:rPr>
              <a:t>, 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</a:rPr>
              <a:t>선택하고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</a:rPr>
              <a:t>, 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</a:rPr>
              <a:t>실행하기 위한 규율이자 상위 전략 구조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</a:rPr>
              <a:t>.</a:t>
            </a:r>
            <a:endParaRPr lang="ko-KR" altLang="en-US" sz="1000">
              <a:ln>
                <a:solidFill>
                  <a:schemeClr val="bg1">
                    <a:alpha val="1000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379819-C5A0-0C6F-30B1-FAD446B4609B}"/>
              </a:ext>
            </a:extLst>
          </p:cNvPr>
          <p:cNvSpPr txBox="1"/>
          <p:nvPr/>
        </p:nvSpPr>
        <p:spPr>
          <a:xfrm>
            <a:off x="598737" y="4223674"/>
            <a:ext cx="7310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■ </a:t>
            </a:r>
            <a:r>
              <a:rPr lang="en-US" altLang="ko-KR" sz="10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4M Motion</a:t>
            </a:r>
            <a:r>
              <a:rPr lang="en-US" altLang="ko-KR" sz="1000" baseline="300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TM </a:t>
            </a:r>
            <a:r>
              <a:rPr lang="en-US" altLang="ko-KR" sz="10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: </a:t>
            </a:r>
            <a:r>
              <a:rPr lang="ko-KR" altLang="en-US" sz="100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</a:rPr>
              <a:t>전략 구조를 실제 움직임과 추진력으로 전환하는 살아있는 하위 실행 흐름</a:t>
            </a:r>
            <a:r>
              <a:rPr lang="en-US" altLang="ko-KR" sz="100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</a:rPr>
              <a:t>.</a:t>
            </a:r>
            <a:endParaRPr lang="ko-KR" altLang="en-US" sz="1000">
              <a:ln>
                <a:solidFill>
                  <a:schemeClr val="bg1">
                    <a:alpha val="10000"/>
                  </a:schemeClr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A482E304-95EB-39E3-B7C6-00CB2374E586}"/>
              </a:ext>
            </a:extLst>
          </p:cNvPr>
          <p:cNvCxnSpPr>
            <a:cxnSpLocks/>
          </p:cNvCxnSpPr>
          <p:nvPr/>
        </p:nvCxnSpPr>
        <p:spPr>
          <a:xfrm>
            <a:off x="690177" y="2964021"/>
            <a:ext cx="11054783" cy="0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>
                    <a:alpha val="0"/>
                  </a:schemeClr>
                </a:gs>
                <a:gs pos="100000">
                  <a:srgbClr val="66FFCC"/>
                </a:gs>
              </a:gsLst>
              <a:lin ang="0" scaled="1"/>
              <a:tileRect/>
            </a:gra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C7B9492C-1326-10F3-E6B3-3FB6E89F9ABC}"/>
              </a:ext>
            </a:extLst>
          </p:cNvPr>
          <p:cNvCxnSpPr>
            <a:cxnSpLocks/>
          </p:cNvCxnSpPr>
          <p:nvPr/>
        </p:nvCxnSpPr>
        <p:spPr>
          <a:xfrm>
            <a:off x="690177" y="5090749"/>
            <a:ext cx="11054783" cy="0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tx1">
                    <a:alpha val="0"/>
                  </a:schemeClr>
                </a:gs>
                <a:gs pos="100000">
                  <a:srgbClr val="66FFCC"/>
                </a:gs>
              </a:gsLst>
              <a:lin ang="0" scaled="1"/>
              <a:tileRect/>
            </a:gra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9A0C358-AE6B-2B4C-46EB-50859D1F53CA}"/>
              </a:ext>
            </a:extLst>
          </p:cNvPr>
          <p:cNvGrpSpPr/>
          <p:nvPr/>
        </p:nvGrpSpPr>
        <p:grpSpPr>
          <a:xfrm>
            <a:off x="690177" y="2414365"/>
            <a:ext cx="1700785" cy="1099312"/>
            <a:chOff x="1066800" y="2263365"/>
            <a:chExt cx="1700785" cy="1099312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2AF890E-D899-7834-D57B-7891714B75EB}"/>
                </a:ext>
              </a:extLst>
            </p:cNvPr>
            <p:cNvSpPr/>
            <p:nvPr/>
          </p:nvSpPr>
          <p:spPr>
            <a:xfrm>
              <a:off x="1066800" y="2263365"/>
              <a:ext cx="414759" cy="1099312"/>
            </a:xfrm>
            <a:prstGeom prst="rect">
              <a:avLst/>
            </a:prstGeom>
            <a:solidFill>
              <a:srgbClr val="66FFCC"/>
            </a:solidFill>
            <a:ln w="12700">
              <a:solidFill>
                <a:srgbClr val="66FF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500" b="1">
                  <a:solidFill>
                    <a:schemeClr val="tx1"/>
                  </a:solidFill>
                </a:rPr>
                <a:t>V</a:t>
              </a:r>
              <a:endParaRPr lang="ko-KR" altLang="en-US" sz="3500" b="1">
                <a:solidFill>
                  <a:schemeClr val="tx1"/>
                </a:solidFill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8A2E05E-064C-46AB-3CCD-C55754F36047}"/>
                </a:ext>
              </a:extLst>
            </p:cNvPr>
            <p:cNvSpPr/>
            <p:nvPr/>
          </p:nvSpPr>
          <p:spPr>
            <a:xfrm>
              <a:off x="1481559" y="2263365"/>
              <a:ext cx="1286026" cy="1099312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66FF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90000"/>
                </a:lnSpc>
              </a:pPr>
              <a:r>
                <a:rPr lang="en-US" altLang="ko-KR" sz="7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Verify Reality</a:t>
              </a:r>
              <a:r>
                <a:rPr lang="en-US" altLang="ko-KR" sz="700" baseline="300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TM</a:t>
              </a:r>
            </a:p>
            <a:p>
              <a:pPr>
                <a:lnSpc>
                  <a:spcPct val="90000"/>
                </a:lnSpc>
              </a:pPr>
              <a:r>
                <a:rPr lang="ko-KR" altLang="en-US" sz="7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현실을 검증한다</a:t>
              </a:r>
              <a:r>
                <a:rPr lang="en-US" altLang="ko-KR" sz="7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.</a:t>
              </a:r>
            </a:p>
            <a:p>
              <a:pPr>
                <a:lnSpc>
                  <a:spcPct val="90000"/>
                </a:lnSpc>
              </a:pPr>
              <a:endParaRPr lang="en-US" altLang="ko-KR" sz="7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전략은 감정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, </a:t>
              </a: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소문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, </a:t>
              </a: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정치적 해석을</a:t>
              </a: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걷어낸 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‘</a:t>
              </a: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사실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’ </a:t>
              </a: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위에 서야 합니다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.</a:t>
              </a:r>
            </a:p>
            <a:p>
              <a:pPr>
                <a:lnSpc>
                  <a:spcPct val="90000"/>
                </a:lnSpc>
              </a:pP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■ 핵심 사고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:</a:t>
              </a: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지금 실제로 사실인 것은 무엇인가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?</a:t>
              </a:r>
            </a:p>
            <a:p>
              <a:pPr>
                <a:lnSpc>
                  <a:spcPct val="90000"/>
                </a:lnSpc>
              </a:pP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■ 시스템 산출물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:</a:t>
              </a:r>
            </a:p>
            <a:p>
              <a:pPr>
                <a:lnSpc>
                  <a:spcPct val="90000"/>
                </a:lnSpc>
              </a:pP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Reality Map, </a:t>
              </a: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신호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/</a:t>
              </a: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가정 분리표</a:t>
              </a: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604D0FEC-78FE-D289-2230-556A63888BEE}"/>
              </a:ext>
            </a:extLst>
          </p:cNvPr>
          <p:cNvGrpSpPr/>
          <p:nvPr/>
        </p:nvGrpSpPr>
        <p:grpSpPr>
          <a:xfrm>
            <a:off x="2512349" y="2414365"/>
            <a:ext cx="1700785" cy="1099312"/>
            <a:chOff x="1066800" y="2263365"/>
            <a:chExt cx="1700785" cy="1099312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19049B3D-0F76-8105-16E2-5FF5E0A9E222}"/>
                </a:ext>
              </a:extLst>
            </p:cNvPr>
            <p:cNvSpPr/>
            <p:nvPr/>
          </p:nvSpPr>
          <p:spPr>
            <a:xfrm>
              <a:off x="1066800" y="2263365"/>
              <a:ext cx="414759" cy="1099312"/>
            </a:xfrm>
            <a:prstGeom prst="rect">
              <a:avLst/>
            </a:prstGeom>
            <a:solidFill>
              <a:srgbClr val="66FFCC"/>
            </a:solidFill>
            <a:ln w="12700">
              <a:solidFill>
                <a:srgbClr val="66FF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500" b="1">
                  <a:solidFill>
                    <a:schemeClr val="tx1"/>
                  </a:solidFill>
                </a:rPr>
                <a:t>E</a:t>
              </a:r>
              <a:endParaRPr lang="ko-KR" altLang="en-US" sz="3500" b="1">
                <a:solidFill>
                  <a:schemeClr val="tx1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DE04536-D3E8-1418-6557-95C4FDE615DE}"/>
                </a:ext>
              </a:extLst>
            </p:cNvPr>
            <p:cNvSpPr/>
            <p:nvPr/>
          </p:nvSpPr>
          <p:spPr>
            <a:xfrm>
              <a:off x="1481559" y="2263365"/>
              <a:ext cx="1286026" cy="1099312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66FF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90000"/>
                </a:lnSpc>
              </a:pPr>
              <a:r>
                <a:rPr lang="en-US" altLang="ko-KR" sz="7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Establish End-State</a:t>
              </a:r>
              <a:r>
                <a:rPr lang="en-US" altLang="ko-KR" sz="700" baseline="300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TM</a:t>
              </a:r>
            </a:p>
            <a:p>
              <a:pPr>
                <a:lnSpc>
                  <a:spcPct val="90000"/>
                </a:lnSpc>
              </a:pPr>
              <a:r>
                <a:rPr lang="ko-KR" altLang="en-US" sz="7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이길 상태를 정의한다</a:t>
              </a:r>
              <a:r>
                <a:rPr lang="en-US" altLang="ko-KR" sz="7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.</a:t>
              </a:r>
            </a:p>
            <a:p>
              <a:pPr>
                <a:lnSpc>
                  <a:spcPct val="90000"/>
                </a:lnSpc>
              </a:pPr>
              <a:endParaRPr lang="en-US" altLang="ko-KR" sz="7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전략은 단순한 방향이 아니라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,</a:t>
              </a: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명확한 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‘</a:t>
              </a: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승리 조건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’</a:t>
              </a: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을 규명해야 합니다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.</a:t>
              </a:r>
            </a:p>
            <a:p>
              <a:pPr>
                <a:lnSpc>
                  <a:spcPct val="90000"/>
                </a:lnSpc>
              </a:pP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■ 핵심 사고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:</a:t>
              </a: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이긴 상태는 정확히 어떤 모습인가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?</a:t>
              </a:r>
            </a:p>
            <a:p>
              <a:pPr>
                <a:lnSpc>
                  <a:spcPct val="90000"/>
                </a:lnSpc>
              </a:pP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■ 시스템 산출물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:</a:t>
              </a: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성공 기준 문장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, </a:t>
              </a: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정량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/</a:t>
              </a: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정성 판정 기준</a:t>
              </a: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A79AA43-4F6A-C302-53E1-288685BB64F6}"/>
              </a:ext>
            </a:extLst>
          </p:cNvPr>
          <p:cNvGrpSpPr/>
          <p:nvPr/>
        </p:nvGrpSpPr>
        <p:grpSpPr>
          <a:xfrm>
            <a:off x="4334521" y="2414365"/>
            <a:ext cx="1700785" cy="1099312"/>
            <a:chOff x="1066800" y="2263365"/>
            <a:chExt cx="1700785" cy="1099312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AB6984AF-8F6C-6D74-8189-DFDA2400E463}"/>
                </a:ext>
              </a:extLst>
            </p:cNvPr>
            <p:cNvSpPr/>
            <p:nvPr/>
          </p:nvSpPr>
          <p:spPr>
            <a:xfrm>
              <a:off x="1066800" y="2263365"/>
              <a:ext cx="414759" cy="1099312"/>
            </a:xfrm>
            <a:prstGeom prst="rect">
              <a:avLst/>
            </a:prstGeom>
            <a:solidFill>
              <a:srgbClr val="66FFCC"/>
            </a:solidFill>
            <a:ln w="12700">
              <a:solidFill>
                <a:srgbClr val="66FF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500" b="1">
                  <a:solidFill>
                    <a:schemeClr val="tx1"/>
                  </a:solidFill>
                </a:rPr>
                <a:t>C</a:t>
              </a:r>
              <a:endParaRPr lang="ko-KR" altLang="en-US" sz="3500" b="1">
                <a:solidFill>
                  <a:schemeClr val="tx1"/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33EF7D0F-A308-11EF-1FBA-17064FD81781}"/>
                </a:ext>
              </a:extLst>
            </p:cNvPr>
            <p:cNvSpPr/>
            <p:nvPr/>
          </p:nvSpPr>
          <p:spPr>
            <a:xfrm>
              <a:off x="1481559" y="2263365"/>
              <a:ext cx="1286026" cy="1099312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66FF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90000"/>
                </a:lnSpc>
              </a:pPr>
              <a:r>
                <a:rPr lang="en-US" altLang="ko-KR" sz="7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Clarify Constraints</a:t>
              </a:r>
              <a:r>
                <a:rPr lang="en-US" altLang="ko-KR" sz="700" baseline="300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TM</a:t>
              </a:r>
            </a:p>
            <a:p>
              <a:pPr>
                <a:lnSpc>
                  <a:spcPct val="90000"/>
                </a:lnSpc>
              </a:pPr>
              <a:r>
                <a:rPr lang="ko-KR" altLang="en-US" sz="7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제약을 드러낸다</a:t>
              </a:r>
              <a:r>
                <a:rPr lang="en-US" altLang="ko-KR" sz="7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.</a:t>
              </a:r>
            </a:p>
            <a:p>
              <a:pPr>
                <a:lnSpc>
                  <a:spcPct val="90000"/>
                </a:lnSpc>
              </a:pPr>
              <a:endParaRPr lang="en-US" altLang="ko-KR" sz="7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실패하는 전략은 제약을 숨기고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,</a:t>
              </a: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성공하는 전략은 제약을 규정합니다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.</a:t>
              </a:r>
            </a:p>
            <a:p>
              <a:pPr>
                <a:lnSpc>
                  <a:spcPct val="90000"/>
                </a:lnSpc>
              </a:pP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■ 핵심 사고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:</a:t>
              </a:r>
            </a:p>
            <a:p>
              <a:pPr>
                <a:lnSpc>
                  <a:spcPct val="90000"/>
                </a:lnSpc>
              </a:pPr>
              <a:r>
                <a:rPr lang="ko-KR" altLang="en-US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무엇이 움직임을 제한하는가</a:t>
              </a:r>
              <a:r>
                <a:rPr lang="en-US" altLang="ko-KR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?(</a:t>
              </a:r>
              <a:r>
                <a:rPr lang="ko-KR" altLang="en-US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자본</a:t>
              </a:r>
              <a:r>
                <a:rPr lang="en-US" altLang="ko-KR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/</a:t>
              </a:r>
              <a:r>
                <a:rPr lang="ko-KR" altLang="en-US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시간</a:t>
              </a:r>
              <a:r>
                <a:rPr lang="en-US" altLang="ko-KR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/</a:t>
              </a:r>
              <a:r>
                <a:rPr lang="ko-KR" altLang="en-US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정치</a:t>
              </a:r>
              <a:r>
                <a:rPr lang="en-US" altLang="ko-KR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)</a:t>
              </a:r>
            </a:p>
            <a:p>
              <a:pPr>
                <a:lnSpc>
                  <a:spcPct val="90000"/>
                </a:lnSpc>
              </a:pP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■ 시스템 산출물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:</a:t>
              </a:r>
            </a:p>
            <a:p>
              <a:pPr>
                <a:lnSpc>
                  <a:spcPct val="90000"/>
                </a:lnSpc>
              </a:pPr>
              <a:r>
                <a:rPr lang="ko-KR" altLang="en-US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자본</a:t>
              </a:r>
              <a:r>
                <a:rPr lang="en-US" altLang="ko-KR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/</a:t>
              </a:r>
              <a:r>
                <a:rPr lang="ko-KR" altLang="en-US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시간</a:t>
              </a:r>
              <a:r>
                <a:rPr lang="en-US" altLang="ko-KR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/</a:t>
              </a:r>
              <a:r>
                <a:rPr lang="ko-KR" altLang="en-US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규제 제약표</a:t>
              </a:r>
              <a:r>
                <a:rPr lang="en-US" altLang="ko-KR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, </a:t>
              </a:r>
              <a:r>
                <a:rPr lang="ko-KR" altLang="en-US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불가</a:t>
              </a:r>
              <a:r>
                <a:rPr lang="en-US" altLang="ko-KR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/</a:t>
              </a:r>
              <a:r>
                <a:rPr lang="ko-KR" altLang="en-US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위험 조건 리스트</a:t>
              </a:r>
              <a:endParaRPr lang="en-US" altLang="ko-KR" sz="500" spc="-7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B9A1FD0-4741-5217-1C3E-8BFA5222DEA6}"/>
              </a:ext>
            </a:extLst>
          </p:cNvPr>
          <p:cNvGrpSpPr/>
          <p:nvPr/>
        </p:nvGrpSpPr>
        <p:grpSpPr>
          <a:xfrm>
            <a:off x="6156693" y="2414365"/>
            <a:ext cx="1700785" cy="1099312"/>
            <a:chOff x="1066800" y="2263365"/>
            <a:chExt cx="1700785" cy="1099312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184F39EA-5E90-1D71-1003-108FCB058544}"/>
                </a:ext>
              </a:extLst>
            </p:cNvPr>
            <p:cNvSpPr/>
            <p:nvPr/>
          </p:nvSpPr>
          <p:spPr>
            <a:xfrm>
              <a:off x="1066800" y="2263365"/>
              <a:ext cx="414759" cy="1099312"/>
            </a:xfrm>
            <a:prstGeom prst="rect">
              <a:avLst/>
            </a:prstGeom>
            <a:solidFill>
              <a:srgbClr val="66FFCC"/>
            </a:solidFill>
            <a:ln w="12700">
              <a:solidFill>
                <a:srgbClr val="66FF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500" b="1">
                  <a:solidFill>
                    <a:schemeClr val="tx1"/>
                  </a:solidFill>
                </a:rPr>
                <a:t>T</a:t>
              </a:r>
              <a:endParaRPr lang="ko-KR" altLang="en-US" sz="3500" b="1">
                <a:solidFill>
                  <a:schemeClr val="tx1"/>
                </a:solidFill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7FC610DE-8CAC-37E7-A290-60267BB3FA19}"/>
                </a:ext>
              </a:extLst>
            </p:cNvPr>
            <p:cNvSpPr/>
            <p:nvPr/>
          </p:nvSpPr>
          <p:spPr>
            <a:xfrm>
              <a:off x="1481559" y="2263365"/>
              <a:ext cx="1286026" cy="1099312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66FF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90000"/>
                </a:lnSpc>
              </a:pPr>
              <a:r>
                <a:rPr lang="en-US" altLang="ko-KR" sz="7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Choose Trade-offs</a:t>
              </a:r>
              <a:r>
                <a:rPr lang="en-US" altLang="ko-KR" sz="700" baseline="300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TM</a:t>
              </a:r>
            </a:p>
            <a:p>
              <a:pPr>
                <a:lnSpc>
                  <a:spcPct val="90000"/>
                </a:lnSpc>
              </a:pPr>
              <a:r>
                <a:rPr lang="ko-KR" altLang="en-US" sz="7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선택과 포기를 분명히 한다</a:t>
              </a:r>
              <a:r>
                <a:rPr lang="en-US" altLang="ko-KR" sz="7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.</a:t>
              </a:r>
            </a:p>
            <a:p>
              <a:pPr>
                <a:lnSpc>
                  <a:spcPct val="90000"/>
                </a:lnSpc>
              </a:pPr>
              <a:endParaRPr lang="en-US" altLang="ko-KR" sz="7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전략은 선택의 영역이 아니라</a:t>
              </a: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포기의 규율이자 예술입니다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.</a:t>
              </a:r>
            </a:p>
            <a:p>
              <a:pPr>
                <a:lnSpc>
                  <a:spcPct val="90000"/>
                </a:lnSpc>
              </a:pP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■ 핵심 사고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:</a:t>
              </a:r>
            </a:p>
            <a:p>
              <a:pPr>
                <a:lnSpc>
                  <a:spcPct val="90000"/>
                </a:lnSpc>
              </a:pPr>
              <a:r>
                <a:rPr lang="ko-KR" altLang="en-US" sz="500" spc="-5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우리는 무엇을 선택하고</a:t>
              </a:r>
              <a:r>
                <a:rPr lang="en-US" altLang="ko-KR" sz="500" spc="-5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, </a:t>
              </a:r>
              <a:r>
                <a:rPr lang="ko-KR" altLang="en-US" sz="500" spc="-5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무엇을 포기하는가</a:t>
              </a:r>
              <a:r>
                <a:rPr lang="en-US" altLang="ko-KR" sz="500" spc="-5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?</a:t>
              </a:r>
            </a:p>
            <a:p>
              <a:pPr>
                <a:lnSpc>
                  <a:spcPct val="90000"/>
                </a:lnSpc>
              </a:pP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■ 시스템 산출물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:</a:t>
              </a:r>
            </a:p>
            <a:p>
              <a:pPr>
                <a:lnSpc>
                  <a:spcPct val="90000"/>
                </a:lnSpc>
              </a:pPr>
              <a:r>
                <a:rPr lang="en-US" altLang="ko-KR" sz="500" spc="-3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Yes/No </a:t>
              </a:r>
              <a:r>
                <a:rPr lang="ko-KR" altLang="en-US" sz="500" spc="-3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리스트</a:t>
              </a:r>
              <a:r>
                <a:rPr lang="en-US" altLang="ko-KR" sz="500" spc="-3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, </a:t>
              </a:r>
              <a:r>
                <a:rPr lang="ko-KR" altLang="en-US" sz="500" spc="-3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집중과 배제 기준표</a:t>
              </a:r>
              <a:endParaRPr lang="en-US" altLang="ko-KR" sz="500" spc="-3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72C4D7DC-38F3-AA25-A64A-243181D355E1}"/>
              </a:ext>
            </a:extLst>
          </p:cNvPr>
          <p:cNvGrpSpPr/>
          <p:nvPr/>
        </p:nvGrpSpPr>
        <p:grpSpPr>
          <a:xfrm>
            <a:off x="7978865" y="2414365"/>
            <a:ext cx="1700785" cy="1099312"/>
            <a:chOff x="1066800" y="2263365"/>
            <a:chExt cx="1700785" cy="1099312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D5B2B363-4FD2-9D87-32F7-5E2510B62C4E}"/>
                </a:ext>
              </a:extLst>
            </p:cNvPr>
            <p:cNvSpPr/>
            <p:nvPr/>
          </p:nvSpPr>
          <p:spPr>
            <a:xfrm>
              <a:off x="1066800" y="2263365"/>
              <a:ext cx="414759" cy="1099312"/>
            </a:xfrm>
            <a:prstGeom prst="rect">
              <a:avLst/>
            </a:prstGeom>
            <a:solidFill>
              <a:srgbClr val="66FFCC"/>
            </a:solidFill>
            <a:ln w="12700">
              <a:solidFill>
                <a:srgbClr val="66FF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500" b="1">
                  <a:solidFill>
                    <a:schemeClr val="tx1"/>
                  </a:solidFill>
                </a:rPr>
                <a:t>O</a:t>
              </a:r>
              <a:endParaRPr lang="ko-KR" altLang="en-US" sz="3500" b="1">
                <a:solidFill>
                  <a:schemeClr val="tx1"/>
                </a:solidFill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AFB7C110-5CEE-703A-E607-8366CE494CFF}"/>
                </a:ext>
              </a:extLst>
            </p:cNvPr>
            <p:cNvSpPr/>
            <p:nvPr/>
          </p:nvSpPr>
          <p:spPr>
            <a:xfrm>
              <a:off x="1481559" y="2263365"/>
              <a:ext cx="1286026" cy="1099312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66FF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90000"/>
                </a:lnSpc>
              </a:pPr>
              <a:r>
                <a:rPr lang="en-US" altLang="ko-KR" sz="7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Orchestrate Change</a:t>
              </a:r>
              <a:r>
                <a:rPr lang="en-US" altLang="ko-KR" sz="700" baseline="300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TM</a:t>
              </a:r>
            </a:p>
            <a:p>
              <a:pPr>
                <a:lnSpc>
                  <a:spcPct val="90000"/>
                </a:lnSpc>
              </a:pPr>
              <a:r>
                <a:rPr lang="ko-KR" altLang="en-US" sz="7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움직이는 구조를 설계한다</a:t>
              </a:r>
              <a:r>
                <a:rPr lang="en-US" altLang="ko-KR" sz="7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.</a:t>
              </a:r>
            </a:p>
            <a:p>
              <a:pPr>
                <a:lnSpc>
                  <a:spcPct val="90000"/>
                </a:lnSpc>
              </a:pPr>
              <a:endParaRPr lang="en-US" altLang="ko-KR" sz="7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 spc="-1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사람</a:t>
              </a:r>
              <a:r>
                <a:rPr lang="en-US" altLang="ko-KR" sz="500" spc="-1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, </a:t>
              </a:r>
              <a:r>
                <a:rPr lang="ko-KR" altLang="en-US" sz="500" spc="-1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권한</a:t>
              </a:r>
              <a:r>
                <a:rPr lang="en-US" altLang="ko-KR" sz="500" spc="-1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, </a:t>
              </a:r>
              <a:r>
                <a:rPr lang="ko-KR" altLang="en-US" sz="500" spc="-1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메시지</a:t>
              </a:r>
              <a:r>
                <a:rPr lang="en-US" altLang="ko-KR" sz="500" spc="-1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, </a:t>
              </a:r>
              <a:r>
                <a:rPr lang="ko-KR" altLang="en-US" sz="500" spc="-1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거버넌스를</a:t>
              </a:r>
              <a:endParaRPr lang="en-US" altLang="ko-KR" sz="500" spc="-1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 spc="-1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한 구조 안에서 정렬하여 현실화합니다</a:t>
              </a:r>
              <a:r>
                <a:rPr lang="en-US" altLang="ko-KR" sz="500" spc="-1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.</a:t>
              </a:r>
            </a:p>
            <a:p>
              <a:pPr>
                <a:lnSpc>
                  <a:spcPct val="90000"/>
                </a:lnSpc>
              </a:pP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■ 핵심 사고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:</a:t>
              </a:r>
            </a:p>
            <a:p>
              <a:pPr>
                <a:lnSpc>
                  <a:spcPct val="90000"/>
                </a:lnSpc>
              </a:pPr>
              <a:r>
                <a:rPr lang="ko-KR" altLang="en-US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시스템 안에서 어떻게 실제로 움직일 것인가</a:t>
              </a:r>
              <a:r>
                <a:rPr lang="en-US" altLang="ko-KR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?</a:t>
              </a:r>
            </a:p>
            <a:p>
              <a:pPr>
                <a:lnSpc>
                  <a:spcPct val="90000"/>
                </a:lnSpc>
              </a:pP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■ 시스템 산출물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:</a:t>
              </a:r>
            </a:p>
            <a:p>
              <a:pPr>
                <a:lnSpc>
                  <a:spcPct val="90000"/>
                </a:lnSpc>
              </a:pPr>
              <a:r>
                <a:rPr lang="en-US" altLang="ko-KR" sz="500" spc="-5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Execution Orchestration Plan, Ownership Matrix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4D1B326E-9060-4BA0-375D-F84BC07F5BEA}"/>
              </a:ext>
            </a:extLst>
          </p:cNvPr>
          <p:cNvGrpSpPr/>
          <p:nvPr/>
        </p:nvGrpSpPr>
        <p:grpSpPr>
          <a:xfrm>
            <a:off x="9801039" y="2414365"/>
            <a:ext cx="1700785" cy="1099312"/>
            <a:chOff x="1066800" y="2263365"/>
            <a:chExt cx="1700785" cy="1099312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1B18D40-0310-F4A1-B923-C04D684C83F3}"/>
                </a:ext>
              </a:extLst>
            </p:cNvPr>
            <p:cNvSpPr/>
            <p:nvPr/>
          </p:nvSpPr>
          <p:spPr>
            <a:xfrm>
              <a:off x="1066800" y="2263365"/>
              <a:ext cx="414759" cy="1099312"/>
            </a:xfrm>
            <a:prstGeom prst="rect">
              <a:avLst/>
            </a:prstGeom>
            <a:solidFill>
              <a:srgbClr val="66FFCC"/>
            </a:solidFill>
            <a:ln w="12700">
              <a:solidFill>
                <a:srgbClr val="66FF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500" b="1">
                  <a:solidFill>
                    <a:schemeClr val="tx1"/>
                  </a:solidFill>
                </a:rPr>
                <a:t>R</a:t>
              </a:r>
              <a:endParaRPr lang="ko-KR" altLang="en-US" sz="3500" b="1">
                <a:solidFill>
                  <a:schemeClr val="tx1"/>
                </a:solidFill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DEEB2E73-D639-CCF4-555F-852A4473B8EB}"/>
                </a:ext>
              </a:extLst>
            </p:cNvPr>
            <p:cNvSpPr/>
            <p:nvPr/>
          </p:nvSpPr>
          <p:spPr>
            <a:xfrm>
              <a:off x="1481559" y="2263365"/>
              <a:ext cx="1286026" cy="1099312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rgbClr val="66FF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90000"/>
                </a:lnSpc>
              </a:pPr>
              <a:r>
                <a:rPr lang="en-US" altLang="ko-KR" sz="7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Review &amp; Renew</a:t>
              </a:r>
              <a:r>
                <a:rPr lang="en-US" altLang="ko-KR" sz="700" baseline="300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TM</a:t>
              </a:r>
            </a:p>
            <a:p>
              <a:pPr>
                <a:lnSpc>
                  <a:spcPct val="90000"/>
                </a:lnSpc>
              </a:pPr>
              <a:r>
                <a:rPr lang="ko-KR" altLang="en-US" sz="7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측정하고 갱신한다</a:t>
              </a:r>
              <a:r>
                <a:rPr lang="en-US" altLang="ko-KR" sz="7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.</a:t>
              </a:r>
            </a:p>
            <a:p>
              <a:pPr>
                <a:lnSpc>
                  <a:spcPct val="90000"/>
                </a:lnSpc>
              </a:pPr>
              <a:endParaRPr lang="en-US" altLang="ko-KR" sz="7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 spc="-1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전략은 살아있는 구조입니다</a:t>
              </a:r>
              <a:r>
                <a:rPr lang="en-US" altLang="ko-KR" sz="500" spc="-1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.</a:t>
              </a:r>
            </a:p>
            <a:p>
              <a:pPr>
                <a:lnSpc>
                  <a:spcPct val="90000"/>
                </a:lnSpc>
              </a:pPr>
              <a:r>
                <a:rPr lang="ko-KR" altLang="en-US" sz="500" spc="-1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현실 변화에 따라 갱신되어야 합니다</a:t>
              </a:r>
              <a:r>
                <a:rPr lang="en-US" altLang="ko-KR" sz="500" spc="-1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.</a:t>
              </a:r>
            </a:p>
            <a:p>
              <a:pPr>
                <a:lnSpc>
                  <a:spcPct val="90000"/>
                </a:lnSpc>
              </a:pP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■ 핵심 사고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:</a:t>
              </a:r>
            </a:p>
            <a:p>
              <a:pPr>
                <a:lnSpc>
                  <a:spcPct val="90000"/>
                </a:lnSpc>
              </a:pPr>
              <a:r>
                <a:rPr lang="ko-KR" altLang="en-US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무엇이 바뀌고 있으며</a:t>
              </a:r>
              <a:r>
                <a:rPr lang="en-US" altLang="ko-KR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, </a:t>
              </a:r>
              <a:r>
                <a:rPr lang="ko-KR" altLang="en-US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어떻게 갱신할 것인가</a:t>
              </a:r>
              <a:r>
                <a:rPr lang="en-US" altLang="ko-KR" sz="500" spc="-7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?</a:t>
              </a:r>
            </a:p>
            <a:p>
              <a:pPr>
                <a:lnSpc>
                  <a:spcPct val="90000"/>
                </a:lnSpc>
              </a:pPr>
              <a:endParaRPr lang="en-US" altLang="ko-KR" sz="5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>
                <a:lnSpc>
                  <a:spcPct val="90000"/>
                </a:lnSpc>
              </a:pPr>
              <a:r>
                <a:rPr lang="ko-KR" altLang="en-US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■ 시스템 산출물</a:t>
              </a:r>
              <a:r>
                <a:rPr lang="en-US" altLang="ko-KR" sz="50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:</a:t>
              </a:r>
            </a:p>
            <a:p>
              <a:pPr>
                <a:lnSpc>
                  <a:spcPct val="90000"/>
                </a:lnSpc>
              </a:pPr>
              <a:r>
                <a:rPr lang="en-US" altLang="ko-KR" sz="500" spc="-10">
                  <a:ln>
                    <a:solidFill>
                      <a:schemeClr val="bg1">
                        <a:alpha val="20000"/>
                      </a:schemeClr>
                    </a:solidFill>
                  </a:ln>
                  <a:solidFill>
                    <a:schemeClr val="bg1"/>
                  </a:solidFill>
                </a:rPr>
                <a:t>Learning Dashboard, Drift Tracker</a:t>
              </a:r>
            </a:p>
          </p:txBody>
        </p:sp>
      </p:grp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37030D79-7488-024A-8167-66225BF8552E}"/>
              </a:ext>
            </a:extLst>
          </p:cNvPr>
          <p:cNvSpPr/>
          <p:nvPr/>
        </p:nvSpPr>
        <p:spPr>
          <a:xfrm>
            <a:off x="9801038" y="4834677"/>
            <a:ext cx="1700786" cy="492440"/>
          </a:xfrm>
          <a:prstGeom prst="rect">
            <a:avLst/>
          </a:prstGeom>
          <a:solidFill>
            <a:srgbClr val="66FFCC"/>
          </a:solidFill>
          <a:ln w="28575">
            <a:gradFill flip="none" rotWithShape="1">
              <a:gsLst>
                <a:gs pos="29000">
                  <a:srgbClr val="FF0000">
                    <a:alpha val="70000"/>
                  </a:srgbClr>
                </a:gs>
                <a:gs pos="0">
                  <a:schemeClr val="accent1">
                    <a:lumMod val="5000"/>
                    <a:lumOff val="95000"/>
                  </a:schemeClr>
                </a:gs>
                <a:gs pos="75000">
                  <a:schemeClr val="bg1"/>
                </a:gs>
                <a:gs pos="100000">
                  <a:srgbClr val="FF0000">
                    <a:alpha val="50000"/>
                  </a:srgb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500" b="1">
                <a:solidFill>
                  <a:schemeClr val="tx1"/>
                </a:solidFill>
              </a:rPr>
              <a:t>Measure</a:t>
            </a:r>
          </a:p>
          <a:p>
            <a:pPr algn="ctr"/>
            <a:r>
              <a:rPr lang="ko-KR" altLang="en-US" sz="1000" b="1">
                <a:solidFill>
                  <a:schemeClr val="tx1"/>
                </a:solidFill>
              </a:rPr>
              <a:t>추적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0A46D127-482D-D1AE-3938-C0249DDF77D7}"/>
              </a:ext>
            </a:extLst>
          </p:cNvPr>
          <p:cNvSpPr/>
          <p:nvPr/>
        </p:nvSpPr>
        <p:spPr>
          <a:xfrm>
            <a:off x="690176" y="4834677"/>
            <a:ext cx="1700786" cy="492440"/>
          </a:xfrm>
          <a:prstGeom prst="rect">
            <a:avLst/>
          </a:prstGeom>
          <a:solidFill>
            <a:srgbClr val="66FFCC"/>
          </a:solidFill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500" b="1">
                <a:solidFill>
                  <a:schemeClr val="tx1"/>
                </a:solidFill>
              </a:rPr>
              <a:t>Map</a:t>
            </a:r>
          </a:p>
          <a:p>
            <a:pPr algn="ctr"/>
            <a:r>
              <a:rPr lang="ko-KR" altLang="en-US" sz="1000" b="1">
                <a:solidFill>
                  <a:schemeClr val="tx1"/>
                </a:solidFill>
              </a:rPr>
              <a:t>지형 읽기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5B890FD9-F5A8-A5F4-573E-0D0E7028CCB0}"/>
              </a:ext>
            </a:extLst>
          </p:cNvPr>
          <p:cNvSpPr/>
          <p:nvPr/>
        </p:nvSpPr>
        <p:spPr>
          <a:xfrm>
            <a:off x="3727130" y="4834677"/>
            <a:ext cx="1700786" cy="492440"/>
          </a:xfrm>
          <a:prstGeom prst="rect">
            <a:avLst/>
          </a:prstGeom>
          <a:solidFill>
            <a:srgbClr val="66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500" b="1">
                <a:solidFill>
                  <a:schemeClr val="tx1"/>
                </a:solidFill>
              </a:rPr>
              <a:t>Model</a:t>
            </a:r>
          </a:p>
          <a:p>
            <a:pPr algn="ctr"/>
            <a:r>
              <a:rPr lang="ko-KR" altLang="en-US" sz="1000" b="1">
                <a:solidFill>
                  <a:schemeClr val="tx1"/>
                </a:solidFill>
              </a:rPr>
              <a:t>논리 구조화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FB60033-CD4C-BAF7-14E2-10D681CD57C2}"/>
              </a:ext>
            </a:extLst>
          </p:cNvPr>
          <p:cNvSpPr/>
          <p:nvPr/>
        </p:nvSpPr>
        <p:spPr>
          <a:xfrm>
            <a:off x="6764084" y="4834677"/>
            <a:ext cx="1700786" cy="492440"/>
          </a:xfrm>
          <a:prstGeom prst="rect">
            <a:avLst/>
          </a:prstGeom>
          <a:solidFill>
            <a:srgbClr val="66FFCC"/>
          </a:solidFill>
          <a:ln w="28575">
            <a:gradFill flip="none" rotWithShape="1">
              <a:gsLst>
                <a:gs pos="34000">
                  <a:srgbClr val="A1FCA6">
                    <a:lumMod val="100000"/>
                  </a:srgbClr>
                </a:gs>
                <a:gs pos="0">
                  <a:schemeClr val="accent1">
                    <a:lumMod val="5000"/>
                    <a:lumOff val="95000"/>
                  </a:schemeClr>
                </a:gs>
                <a:gs pos="75000">
                  <a:schemeClr val="bg1"/>
                </a:gs>
                <a:gs pos="100000">
                  <a:srgbClr val="66FF66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1500" b="1">
                <a:solidFill>
                  <a:schemeClr val="tx1"/>
                </a:solidFill>
              </a:rPr>
              <a:t>Mobilize</a:t>
            </a:r>
          </a:p>
          <a:p>
            <a:pPr algn="ctr"/>
            <a:r>
              <a:rPr lang="ko-KR" altLang="en-US" sz="1000" b="1">
                <a:solidFill>
                  <a:schemeClr val="tx1"/>
                </a:solidFill>
              </a:rPr>
              <a:t>가동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D4B9ABF-9251-6BE9-E8EA-245C7BFB0C96}"/>
              </a:ext>
            </a:extLst>
          </p:cNvPr>
          <p:cNvSpPr/>
          <p:nvPr/>
        </p:nvSpPr>
        <p:spPr>
          <a:xfrm>
            <a:off x="690176" y="5327117"/>
            <a:ext cx="1700786" cy="256072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700" spc="-5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rPr>
              <a:t>문제의 지형</a:t>
            </a:r>
            <a:r>
              <a:rPr lang="en-US" altLang="ko-KR" sz="700" spc="-5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rPr>
              <a:t>, </a:t>
            </a:r>
            <a:r>
              <a:rPr lang="ko-KR" altLang="en-US" sz="700" spc="-5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rPr>
              <a:t>행위자</a:t>
            </a:r>
            <a:r>
              <a:rPr lang="en-US" altLang="ko-KR" sz="700" spc="-5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rPr>
              <a:t>, </a:t>
            </a:r>
            <a:r>
              <a:rPr lang="ko-KR" altLang="en-US" sz="700" spc="-5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rPr>
              <a:t>압력지점</a:t>
            </a:r>
            <a:r>
              <a:rPr lang="en-US" altLang="ko-KR" sz="700" spc="-5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rPr>
              <a:t>, </a:t>
            </a:r>
            <a:r>
              <a:rPr lang="ko-KR" altLang="en-US" sz="700" spc="-5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rPr>
              <a:t>이해관계 파악</a:t>
            </a:r>
            <a:endParaRPr lang="en-US" altLang="ko-KR" sz="500" spc="-5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625A25E-D96F-675E-C98C-2C0CA170735C}"/>
              </a:ext>
            </a:extLst>
          </p:cNvPr>
          <p:cNvSpPr/>
          <p:nvPr/>
        </p:nvSpPr>
        <p:spPr>
          <a:xfrm>
            <a:off x="3727130" y="5327117"/>
            <a:ext cx="1700786" cy="256072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700" spc="-5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rPr>
              <a:t>의사결정 가능한 논리적 구조로 모델링</a:t>
            </a:r>
            <a:endParaRPr lang="en-US" altLang="ko-KR" sz="700" spc="-5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E8D65FF-FC78-EA48-4D46-39F466844138}"/>
              </a:ext>
            </a:extLst>
          </p:cNvPr>
          <p:cNvSpPr/>
          <p:nvPr/>
        </p:nvSpPr>
        <p:spPr>
          <a:xfrm>
            <a:off x="6764084" y="5327117"/>
            <a:ext cx="1700786" cy="256072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700" spc="-1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rPr>
              <a:t>사람</a:t>
            </a:r>
            <a:r>
              <a:rPr lang="en-US" altLang="ko-KR" sz="700" spc="-1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rPr>
              <a:t>, </a:t>
            </a:r>
            <a:r>
              <a:rPr lang="ko-KR" altLang="en-US" sz="700" spc="-1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rPr>
              <a:t>자본</a:t>
            </a:r>
            <a:r>
              <a:rPr lang="en-US" altLang="ko-KR" sz="700" spc="-1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rPr>
              <a:t>, </a:t>
            </a:r>
            <a:r>
              <a:rPr lang="ko-KR" altLang="en-US" sz="700" spc="-1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rPr>
              <a:t>타이밍</a:t>
            </a:r>
            <a:r>
              <a:rPr lang="en-US" altLang="ko-KR" sz="700" spc="-1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rPr>
              <a:t>, </a:t>
            </a:r>
            <a:r>
              <a:rPr lang="ko-KR" altLang="en-US" sz="700" spc="-1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rPr>
              <a:t>메시지를 한 방향으로 정렬</a:t>
            </a:r>
            <a:endParaRPr lang="en-US" altLang="ko-KR" sz="700" spc="-1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FC7E798-50A8-2871-3315-4742C8E0015E}"/>
              </a:ext>
            </a:extLst>
          </p:cNvPr>
          <p:cNvSpPr/>
          <p:nvPr/>
        </p:nvSpPr>
        <p:spPr>
          <a:xfrm>
            <a:off x="9801038" y="5327117"/>
            <a:ext cx="1700786" cy="256072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700" spc="-1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</a:rPr>
              <a:t>가시적 성과와 구조적 어긋남 추적</a:t>
            </a:r>
            <a:endParaRPr lang="en-US" altLang="ko-KR" sz="700" spc="-1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139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390117-A98B-41A4-649B-0917026AC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0C0B841-D589-9A75-052B-70E1124F41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51" r="8551" b="22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0FDAE33-1274-C056-7784-7E331CB05817}"/>
              </a:ext>
            </a:extLst>
          </p:cNvPr>
          <p:cNvSpPr/>
          <p:nvPr/>
        </p:nvSpPr>
        <p:spPr>
          <a:xfrm>
            <a:off x="0" y="1270000"/>
            <a:ext cx="12192000" cy="5587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8EF734-FCA9-08D5-8BEE-6FBB25CC36A2}"/>
              </a:ext>
            </a:extLst>
          </p:cNvPr>
          <p:cNvSpPr txBox="1"/>
          <p:nvPr/>
        </p:nvSpPr>
        <p:spPr>
          <a:xfrm>
            <a:off x="3820537" y="1560708"/>
            <a:ext cx="559449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000" spc="-50">
                <a:ln>
                  <a:solidFill>
                    <a:srgbClr val="66FFCC">
                      <a:alpha val="10000"/>
                    </a:srgbClr>
                  </a:solidFill>
                </a:ln>
                <a:solidFill>
                  <a:srgbClr val="66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7" panose="02020600000000000000" pitchFamily="18" charset="-127"/>
                <a:ea typeface="a고딕17" panose="02020600000000000000" pitchFamily="18" charset="-127"/>
              </a:rPr>
              <a:t>커리어 여정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DB67F6-E5FC-F7DD-030D-2A350AA81A16}"/>
              </a:ext>
            </a:extLst>
          </p:cNvPr>
          <p:cNvSpPr txBox="1"/>
          <p:nvPr/>
        </p:nvSpPr>
        <p:spPr>
          <a:xfrm>
            <a:off x="7688584" y="1560708"/>
            <a:ext cx="45365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000" spc="-50">
                <a:ln>
                  <a:solidFill>
                    <a:srgbClr val="66FFCC">
                      <a:alpha val="10000"/>
                    </a:srgbClr>
                  </a:solidFill>
                </a:ln>
                <a:solidFill>
                  <a:srgbClr val="66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7" panose="02020600000000000000" pitchFamily="18" charset="-127"/>
                <a:ea typeface="a고딕17" panose="02020600000000000000" pitchFamily="18" charset="-127"/>
              </a:rPr>
              <a:t>삶의 영역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48A070-4534-FF32-32C9-F4F5AEEF963A}"/>
              </a:ext>
            </a:extLst>
          </p:cNvPr>
          <p:cNvSpPr/>
          <p:nvPr/>
        </p:nvSpPr>
        <p:spPr>
          <a:xfrm>
            <a:off x="10739120" y="1"/>
            <a:ext cx="1452880" cy="426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600"/>
              <a:t>수정 사항</a:t>
            </a:r>
          </a:p>
        </p:txBody>
      </p:sp>
    </p:spTree>
    <p:extLst>
      <p:ext uri="{BB962C8B-B14F-4D97-AF65-F5344CB8AC3E}">
        <p14:creationId xmlns:p14="http://schemas.microsoft.com/office/powerpoint/2010/main" val="760033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7C09E07-D908-F6C3-4645-228DDDF970EC}"/>
              </a:ext>
            </a:extLst>
          </p:cNvPr>
          <p:cNvSpPr/>
          <p:nvPr/>
        </p:nvSpPr>
        <p:spPr>
          <a:xfrm>
            <a:off x="0" y="2754338"/>
            <a:ext cx="12192000" cy="1349326"/>
          </a:xfrm>
          <a:prstGeom prst="rect">
            <a:avLst/>
          </a:prstGeom>
          <a:solidFill>
            <a:srgbClr val="66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4BC7DCDF-E587-5327-139C-1F729B41D2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49236" y="2833255"/>
            <a:ext cx="2617810" cy="12704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49BD88-D9C1-14FE-D337-2A2CAF5D5C38}"/>
              </a:ext>
            </a:extLst>
          </p:cNvPr>
          <p:cNvSpPr txBox="1"/>
          <p:nvPr/>
        </p:nvSpPr>
        <p:spPr>
          <a:xfrm>
            <a:off x="2549236" y="4655127"/>
            <a:ext cx="241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평창동계올림픽</a:t>
            </a:r>
          </a:p>
        </p:txBody>
      </p:sp>
    </p:spTree>
    <p:extLst>
      <p:ext uri="{BB962C8B-B14F-4D97-AF65-F5344CB8AC3E}">
        <p14:creationId xmlns:p14="http://schemas.microsoft.com/office/powerpoint/2010/main" val="133184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F6F93-D402-98BB-FFFD-6BFAAA476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F9A827B4-E025-3850-F288-A14EA9D37B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25" r="682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062257D-AEB7-ECFF-6E08-C5E2B0744EDB}"/>
              </a:ext>
            </a:extLst>
          </p:cNvPr>
          <p:cNvCxnSpPr>
            <a:cxnSpLocks/>
          </p:cNvCxnSpPr>
          <p:nvPr/>
        </p:nvCxnSpPr>
        <p:spPr>
          <a:xfrm flipV="1">
            <a:off x="3329049" y="1756493"/>
            <a:ext cx="0" cy="5101507"/>
          </a:xfrm>
          <a:prstGeom prst="straightConnector1">
            <a:avLst/>
          </a:prstGeom>
          <a:ln w="1270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0">
                  <a:schemeClr val="tx1">
                    <a:alpha val="0"/>
                  </a:schemeClr>
                </a:gs>
              </a:gsLst>
              <a:lin ang="5400000" scaled="1"/>
            </a:gra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9696DDC7-0551-986F-A6FF-5A1C0A181BDF}"/>
              </a:ext>
            </a:extLst>
          </p:cNvPr>
          <p:cNvSpPr/>
          <p:nvPr/>
        </p:nvSpPr>
        <p:spPr>
          <a:xfrm>
            <a:off x="3264395" y="2048495"/>
            <a:ext cx="129309" cy="129309"/>
          </a:xfrm>
          <a:prstGeom prst="ellipse">
            <a:avLst/>
          </a:prstGeom>
          <a:solidFill>
            <a:srgbClr val="66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303485F-FAFC-4AE7-CE11-8D65B4FFFB1C}"/>
              </a:ext>
            </a:extLst>
          </p:cNvPr>
          <p:cNvSpPr/>
          <p:nvPr/>
        </p:nvSpPr>
        <p:spPr>
          <a:xfrm>
            <a:off x="655123" y="217054"/>
            <a:ext cx="129309" cy="129309"/>
          </a:xfrm>
          <a:prstGeom prst="ellipse">
            <a:avLst/>
          </a:prstGeom>
          <a:solidFill>
            <a:srgbClr val="66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23D962-88F4-E8CA-D461-A7DAB612F45C}"/>
              </a:ext>
            </a:extLst>
          </p:cNvPr>
          <p:cNvSpPr txBox="1"/>
          <p:nvPr/>
        </p:nvSpPr>
        <p:spPr>
          <a:xfrm>
            <a:off x="4091709" y="787949"/>
            <a:ext cx="387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걸어온 여정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, </a:t>
            </a:r>
            <a:r>
              <a:rPr lang="ko-KR" altLang="en-US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삶의 영역</a:t>
            </a:r>
            <a:r>
              <a:rPr lang="en-US" altLang="ko-KR" sz="1200">
                <a:ln>
                  <a:solidFill>
                    <a:schemeClr val="bg1">
                      <a:alpha val="20000"/>
                    </a:schemeClr>
                  </a:solidFill>
                </a:ln>
                <a:solidFill>
                  <a:schemeClr val="bg1"/>
                </a:solidFill>
                <a:latin typeface="a고딕15" panose="02020600000000000000" pitchFamily="18" charset="-127"/>
                <a:ea typeface="a고딕15" panose="02020600000000000000" pitchFamily="18" charset="-127"/>
              </a:rPr>
              <a:t>.</a:t>
            </a:r>
            <a:endParaRPr lang="ko-KR" altLang="en-US" sz="1200">
              <a:ln>
                <a:solidFill>
                  <a:schemeClr val="bg1">
                    <a:alpha val="20000"/>
                  </a:schemeClr>
                </a:solidFill>
              </a:ln>
              <a:solidFill>
                <a:schemeClr val="bg1"/>
              </a:solidFill>
              <a:latin typeface="a고딕15" panose="02020600000000000000" pitchFamily="18" charset="-127"/>
              <a:ea typeface="a고딕15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6971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CD2A6-933C-5708-4399-A7A9E7390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8BF08E4-4B82-8BC0-E50B-219230697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0" r="67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14F9BAC-92B2-C3F5-4CAB-AEC402BAD949}"/>
              </a:ext>
            </a:extLst>
          </p:cNvPr>
          <p:cNvSpPr/>
          <p:nvPr/>
        </p:nvSpPr>
        <p:spPr>
          <a:xfrm>
            <a:off x="0" y="2600529"/>
            <a:ext cx="12192000" cy="213149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333ABE7-99B2-A5CA-F5D5-127E900BA268}"/>
              </a:ext>
            </a:extLst>
          </p:cNvPr>
          <p:cNvGrpSpPr/>
          <p:nvPr/>
        </p:nvGrpSpPr>
        <p:grpSpPr>
          <a:xfrm>
            <a:off x="3431810" y="2769748"/>
            <a:ext cx="2266646" cy="1810145"/>
            <a:chOff x="3079369" y="2769748"/>
            <a:chExt cx="2266646" cy="181014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3572412-9843-8FC8-DCC0-E78F66753136}"/>
                </a:ext>
              </a:extLst>
            </p:cNvPr>
            <p:cNvSpPr txBox="1"/>
            <p:nvPr/>
          </p:nvSpPr>
          <p:spPr>
            <a:xfrm>
              <a:off x="3468096" y="2769748"/>
              <a:ext cx="55944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000" spc="-50">
                  <a:ln>
                    <a:solidFill>
                      <a:srgbClr val="66FFCC">
                        <a:alpha val="10000"/>
                      </a:srgbClr>
                    </a:solidFill>
                  </a:ln>
                  <a:solidFill>
                    <a:srgbClr val="66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7" panose="02020600000000000000" pitchFamily="18" charset="-127"/>
                  <a:ea typeface="a고딕17" panose="02020600000000000000" pitchFamily="18" charset="-127"/>
                </a:rPr>
                <a:t>커리어 여정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EC68FD2D-C899-244B-9B73-9796CCDCF99B}"/>
                </a:ext>
              </a:extLst>
            </p:cNvPr>
            <p:cNvGrpSpPr/>
            <p:nvPr/>
          </p:nvGrpSpPr>
          <p:grpSpPr>
            <a:xfrm>
              <a:off x="3079369" y="3091122"/>
              <a:ext cx="2266646" cy="1488771"/>
              <a:chOff x="3254419" y="3091122"/>
              <a:chExt cx="2266646" cy="148877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DDF4B4-8C8E-C054-D2B9-9F97F499C562}"/>
                  </a:ext>
                </a:extLst>
              </p:cNvPr>
              <p:cNvSpPr txBox="1"/>
              <p:nvPr/>
            </p:nvSpPr>
            <p:spPr>
              <a:xfrm>
                <a:off x="3254419" y="3436384"/>
                <a:ext cx="1449115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글로벌 이차전지 소재기업 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| 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전략기획 파트장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4E5CAF-568F-A827-3934-C8749DFFBF30}"/>
                  </a:ext>
                </a:extLst>
              </p:cNvPr>
              <p:cNvSpPr txBox="1"/>
              <p:nvPr/>
            </p:nvSpPr>
            <p:spPr>
              <a:xfrm>
                <a:off x="3254419" y="3609015"/>
                <a:ext cx="1277594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K-PPM Solution  | 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마케</a:t>
                </a:r>
                <a:r>
                  <a:rPr lang="ko-KR" altLang="en-US" sz="700" spc="-2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팅</a:t>
                </a:r>
                <a:r>
                  <a:rPr lang="en-US" altLang="ko-KR" sz="700" spc="-2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r>
                  <a:rPr lang="ko-KR" altLang="en-US" sz="700" spc="-1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브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랜딩 총괄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71AFB40-FF26-43DC-5473-99804573E48B}"/>
                  </a:ext>
                </a:extLst>
              </p:cNvPr>
              <p:cNvSpPr txBox="1"/>
              <p:nvPr/>
            </p:nvSpPr>
            <p:spPr>
              <a:xfrm>
                <a:off x="3254419" y="3781646"/>
                <a:ext cx="977832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공공부문 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| 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경제정책 조사연구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27D8294-9324-9060-7D54-4B99BFDBD5B5}"/>
                  </a:ext>
                </a:extLst>
              </p:cNvPr>
              <p:cNvSpPr txBox="1"/>
              <p:nvPr/>
            </p:nvSpPr>
            <p:spPr>
              <a:xfrm>
                <a:off x="3254419" y="3954277"/>
                <a:ext cx="2266646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글로벌 프로젝트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| 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평창동계올림픽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세계게임올림픽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도쿄올림픽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AA78C4C-8A34-B284-CD66-17706571B280}"/>
                  </a:ext>
                </a:extLst>
              </p:cNvPr>
              <p:cNvSpPr txBox="1"/>
              <p:nvPr/>
            </p:nvSpPr>
            <p:spPr>
              <a:xfrm>
                <a:off x="3254419" y="4126908"/>
                <a:ext cx="1054776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세계게임올림픽 서울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,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상하이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CBC0E8-D9D7-C604-6573-50D18699E67A}"/>
                  </a:ext>
                </a:extLst>
              </p:cNvPr>
              <p:cNvSpPr txBox="1"/>
              <p:nvPr/>
            </p:nvSpPr>
            <p:spPr>
              <a:xfrm>
                <a:off x="3254419" y="4299539"/>
                <a:ext cx="934551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한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-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아세안 문화교류 기획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C14A61-0626-CED8-8859-9727955B443A}"/>
                  </a:ext>
                </a:extLst>
              </p:cNvPr>
              <p:cNvSpPr txBox="1"/>
              <p:nvPr/>
            </p:nvSpPr>
            <p:spPr>
              <a:xfrm>
                <a:off x="3254419" y="4472171"/>
                <a:ext cx="639599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평창동계올림픽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FFC5DB2-6F4B-B452-20BF-283BD32A42BF}"/>
                  </a:ext>
                </a:extLst>
              </p:cNvPr>
              <p:cNvSpPr txBox="1"/>
              <p:nvPr/>
            </p:nvSpPr>
            <p:spPr>
              <a:xfrm>
                <a:off x="3254419" y="3091122"/>
                <a:ext cx="1141338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비공개 신설벤처 창립팀</a:t>
                </a:r>
                <a:r>
                  <a:rPr lang="en-US" altLang="ko-KR" sz="700" spc="-5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  |  </a:t>
                </a:r>
                <a:r>
                  <a:rPr lang="ko-KR" altLang="en-US" sz="700" spc="-5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전략총괄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4FB5157-83EB-D81A-8C00-51E34AD90BD9}"/>
                  </a:ext>
                </a:extLst>
              </p:cNvPr>
              <p:cNvSpPr txBox="1"/>
              <p:nvPr/>
            </p:nvSpPr>
            <p:spPr>
              <a:xfrm>
                <a:off x="3254419" y="3263753"/>
                <a:ext cx="1354538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독립 자문 컨설턴트</a:t>
                </a:r>
                <a:r>
                  <a:rPr lang="en-US" altLang="ko-KR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  |  </a:t>
                </a:r>
                <a:r>
                  <a:rPr lang="ko-KR" altLang="en-US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전</a:t>
                </a:r>
                <a:r>
                  <a:rPr lang="ko-KR" altLang="en-US" sz="700" spc="-1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략</a:t>
                </a:r>
                <a:r>
                  <a:rPr lang="en-US" altLang="ko-KR" sz="700" spc="-1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r>
                  <a:rPr lang="ko-KR" altLang="en-US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실행 자문</a:t>
                </a:r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E460074-9C9D-904A-DF91-013C245622D2}"/>
              </a:ext>
            </a:extLst>
          </p:cNvPr>
          <p:cNvSpPr txBox="1"/>
          <p:nvPr/>
        </p:nvSpPr>
        <p:spPr>
          <a:xfrm>
            <a:off x="7688584" y="2769748"/>
            <a:ext cx="45365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000" spc="-50">
                <a:ln>
                  <a:solidFill>
                    <a:srgbClr val="66FFCC">
                      <a:alpha val="10000"/>
                    </a:srgbClr>
                  </a:solidFill>
                </a:ln>
                <a:solidFill>
                  <a:srgbClr val="66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7" panose="02020600000000000000" pitchFamily="18" charset="-127"/>
                <a:ea typeface="a고딕17" panose="02020600000000000000" pitchFamily="18" charset="-127"/>
              </a:rPr>
              <a:t>삶의 영역</a:t>
            </a:r>
          </a:p>
        </p:txBody>
      </p:sp>
    </p:spTree>
    <p:extLst>
      <p:ext uri="{BB962C8B-B14F-4D97-AF65-F5344CB8AC3E}">
        <p14:creationId xmlns:p14="http://schemas.microsoft.com/office/powerpoint/2010/main" val="1698461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1E3589-0F84-0681-5149-746F8503F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1E3B885-0FAF-9D33-87A9-1A4224DDEA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0" r="67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3CCD23C-7DDE-D0F7-F5D0-4CB8D73349EB}"/>
              </a:ext>
            </a:extLst>
          </p:cNvPr>
          <p:cNvSpPr/>
          <p:nvPr/>
        </p:nvSpPr>
        <p:spPr>
          <a:xfrm>
            <a:off x="0" y="2600529"/>
            <a:ext cx="12192000" cy="213149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C4BA3E6-5299-DE00-8FF6-86DA59C1E2FF}"/>
              </a:ext>
            </a:extLst>
          </p:cNvPr>
          <p:cNvGrpSpPr/>
          <p:nvPr/>
        </p:nvGrpSpPr>
        <p:grpSpPr>
          <a:xfrm>
            <a:off x="3431810" y="2769748"/>
            <a:ext cx="2266646" cy="1810145"/>
            <a:chOff x="3079369" y="2769748"/>
            <a:chExt cx="2266646" cy="181014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5CE707B-30A7-9141-BD88-C76EC1390D47}"/>
                </a:ext>
              </a:extLst>
            </p:cNvPr>
            <p:cNvSpPr txBox="1"/>
            <p:nvPr/>
          </p:nvSpPr>
          <p:spPr>
            <a:xfrm>
              <a:off x="3468096" y="2769748"/>
              <a:ext cx="55944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000" spc="-50">
                  <a:ln>
                    <a:solidFill>
                      <a:srgbClr val="66FFCC">
                        <a:alpha val="10000"/>
                      </a:srgbClr>
                    </a:solidFill>
                  </a:ln>
                  <a:solidFill>
                    <a:srgbClr val="66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7" panose="02020600000000000000" pitchFamily="18" charset="-127"/>
                  <a:ea typeface="a고딕17" panose="02020600000000000000" pitchFamily="18" charset="-127"/>
                </a:rPr>
                <a:t>커리어 여정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120D3F46-D582-76A1-7BB7-91E4B3F6E619}"/>
                </a:ext>
              </a:extLst>
            </p:cNvPr>
            <p:cNvGrpSpPr/>
            <p:nvPr/>
          </p:nvGrpSpPr>
          <p:grpSpPr>
            <a:xfrm>
              <a:off x="3079369" y="3091122"/>
              <a:ext cx="2266646" cy="1488771"/>
              <a:chOff x="3254419" y="3091122"/>
              <a:chExt cx="2266646" cy="148877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081FF0-D7C0-8889-36DD-B4B29EDA73E5}"/>
                  </a:ext>
                </a:extLst>
              </p:cNvPr>
              <p:cNvSpPr txBox="1"/>
              <p:nvPr/>
            </p:nvSpPr>
            <p:spPr>
              <a:xfrm>
                <a:off x="3254419" y="3436384"/>
                <a:ext cx="1449115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글로벌 이차전지 소재기업 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| 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전략기획 파트장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965D486-C554-7BEA-EE44-A7B932865763}"/>
                  </a:ext>
                </a:extLst>
              </p:cNvPr>
              <p:cNvSpPr txBox="1"/>
              <p:nvPr/>
            </p:nvSpPr>
            <p:spPr>
              <a:xfrm>
                <a:off x="3254419" y="3609015"/>
                <a:ext cx="1277594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K-PPM Solution  | 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마케</a:t>
                </a:r>
                <a:r>
                  <a:rPr lang="ko-KR" altLang="en-US" sz="700" spc="-2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팅</a:t>
                </a:r>
                <a:r>
                  <a:rPr lang="en-US" altLang="ko-KR" sz="700" spc="-2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r>
                  <a:rPr lang="ko-KR" altLang="en-US" sz="700" spc="-1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브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랜딩 총괄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801459-E718-AC31-9313-5A5B5F7B5A89}"/>
                  </a:ext>
                </a:extLst>
              </p:cNvPr>
              <p:cNvSpPr txBox="1"/>
              <p:nvPr/>
            </p:nvSpPr>
            <p:spPr>
              <a:xfrm>
                <a:off x="3254419" y="3781646"/>
                <a:ext cx="977832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공공부문 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| 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경제정책 조사연구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59FF49E-3575-758D-0056-9B09CC14189E}"/>
                  </a:ext>
                </a:extLst>
              </p:cNvPr>
              <p:cNvSpPr txBox="1"/>
              <p:nvPr/>
            </p:nvSpPr>
            <p:spPr>
              <a:xfrm>
                <a:off x="3254419" y="3954277"/>
                <a:ext cx="2266646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글로벌 프로젝트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| 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평창동계올림픽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세계게임올림픽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도쿄올림픽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1E4422B-C0FF-DB02-0874-329CDFCA27C2}"/>
                  </a:ext>
                </a:extLst>
              </p:cNvPr>
              <p:cNvSpPr txBox="1"/>
              <p:nvPr/>
            </p:nvSpPr>
            <p:spPr>
              <a:xfrm>
                <a:off x="3254419" y="4126908"/>
                <a:ext cx="1054776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세계게임올림픽 서울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,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상하이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232CEC8-8D9C-8A78-AEF2-5B793FCB6A99}"/>
                  </a:ext>
                </a:extLst>
              </p:cNvPr>
              <p:cNvSpPr txBox="1"/>
              <p:nvPr/>
            </p:nvSpPr>
            <p:spPr>
              <a:xfrm>
                <a:off x="3254419" y="4299539"/>
                <a:ext cx="934551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한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-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아세안 문화교류 기획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2B7DB24-0F8C-835D-18C1-131F7F848A50}"/>
                  </a:ext>
                </a:extLst>
              </p:cNvPr>
              <p:cNvSpPr txBox="1"/>
              <p:nvPr/>
            </p:nvSpPr>
            <p:spPr>
              <a:xfrm>
                <a:off x="3254419" y="4472171"/>
                <a:ext cx="639599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평창동계올림픽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69C16B4-B682-8DFA-83C3-7956A1C6C082}"/>
                  </a:ext>
                </a:extLst>
              </p:cNvPr>
              <p:cNvSpPr txBox="1"/>
              <p:nvPr/>
            </p:nvSpPr>
            <p:spPr>
              <a:xfrm>
                <a:off x="3254419" y="3091122"/>
                <a:ext cx="1141338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비공개 신설벤처 창립팀</a:t>
                </a:r>
                <a:r>
                  <a:rPr lang="en-US" altLang="ko-KR" sz="700" spc="-5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  |  </a:t>
                </a:r>
                <a:r>
                  <a:rPr lang="ko-KR" altLang="en-US" sz="700" spc="-5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전략총괄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8EE83FE-602C-50B8-6408-B948232CED70}"/>
                  </a:ext>
                </a:extLst>
              </p:cNvPr>
              <p:cNvSpPr txBox="1"/>
              <p:nvPr/>
            </p:nvSpPr>
            <p:spPr>
              <a:xfrm>
                <a:off x="3254419" y="3263753"/>
                <a:ext cx="1354538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독립 자문 컨설턴트</a:t>
                </a:r>
                <a:r>
                  <a:rPr lang="en-US" altLang="ko-KR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  |  </a:t>
                </a:r>
                <a:r>
                  <a:rPr lang="ko-KR" altLang="en-US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전</a:t>
                </a:r>
                <a:r>
                  <a:rPr lang="ko-KR" altLang="en-US" sz="700" spc="-1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략</a:t>
                </a:r>
                <a:r>
                  <a:rPr lang="en-US" altLang="ko-KR" sz="700" spc="-1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r>
                  <a:rPr lang="ko-KR" altLang="en-US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실행 자문</a:t>
                </a:r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698B83F-E170-41E3-1CBA-FBEB10565F5F}"/>
              </a:ext>
            </a:extLst>
          </p:cNvPr>
          <p:cNvSpPr txBox="1"/>
          <p:nvPr/>
        </p:nvSpPr>
        <p:spPr>
          <a:xfrm>
            <a:off x="7688584" y="2769748"/>
            <a:ext cx="45365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000" spc="-50">
                <a:ln>
                  <a:solidFill>
                    <a:srgbClr val="66FFCC">
                      <a:alpha val="10000"/>
                    </a:srgbClr>
                  </a:solidFill>
                </a:ln>
                <a:solidFill>
                  <a:srgbClr val="66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7" panose="02020600000000000000" pitchFamily="18" charset="-127"/>
                <a:ea typeface="a고딕17" panose="02020600000000000000" pitchFamily="18" charset="-127"/>
              </a:rPr>
              <a:t>삶의 영역</a:t>
            </a:r>
          </a:p>
        </p:txBody>
      </p:sp>
    </p:spTree>
    <p:extLst>
      <p:ext uri="{BB962C8B-B14F-4D97-AF65-F5344CB8AC3E}">
        <p14:creationId xmlns:p14="http://schemas.microsoft.com/office/powerpoint/2010/main" val="4143798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EBF7F-C2D5-AA8B-22CD-9D3A71DFA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3FC1293-A3CD-DC9B-0B82-042510C408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0" r="67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E9AF0B7-DFD9-444D-823B-4D3318BFE705}"/>
              </a:ext>
            </a:extLst>
          </p:cNvPr>
          <p:cNvSpPr/>
          <p:nvPr/>
        </p:nvSpPr>
        <p:spPr>
          <a:xfrm>
            <a:off x="0" y="2600529"/>
            <a:ext cx="12192000" cy="213149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F13E711-3B5B-ECF7-5E08-C5A58BF181C3}"/>
              </a:ext>
            </a:extLst>
          </p:cNvPr>
          <p:cNvGrpSpPr/>
          <p:nvPr/>
        </p:nvGrpSpPr>
        <p:grpSpPr>
          <a:xfrm>
            <a:off x="3431810" y="2769748"/>
            <a:ext cx="1771319" cy="1810145"/>
            <a:chOff x="3079369" y="2769748"/>
            <a:chExt cx="1771319" cy="181014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40894A9-86B0-58DF-2666-92C3E67D9E9B}"/>
                </a:ext>
              </a:extLst>
            </p:cNvPr>
            <p:cNvSpPr txBox="1"/>
            <p:nvPr/>
          </p:nvSpPr>
          <p:spPr>
            <a:xfrm>
              <a:off x="3468096" y="2769748"/>
              <a:ext cx="55944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000" spc="-50">
                  <a:ln>
                    <a:solidFill>
                      <a:srgbClr val="66FFCC">
                        <a:alpha val="10000"/>
                      </a:srgbClr>
                    </a:solidFill>
                  </a:ln>
                  <a:solidFill>
                    <a:srgbClr val="66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7" panose="02020600000000000000" pitchFamily="18" charset="-127"/>
                  <a:ea typeface="a고딕17" panose="02020600000000000000" pitchFamily="18" charset="-127"/>
                </a:rPr>
                <a:t>커리어 여정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8FDD229C-F6D3-3A87-36C3-21F74CA99305}"/>
                </a:ext>
              </a:extLst>
            </p:cNvPr>
            <p:cNvGrpSpPr/>
            <p:nvPr/>
          </p:nvGrpSpPr>
          <p:grpSpPr>
            <a:xfrm>
              <a:off x="3079369" y="3091122"/>
              <a:ext cx="1771319" cy="1488771"/>
              <a:chOff x="3254419" y="3091122"/>
              <a:chExt cx="1771319" cy="148877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4113B3-20E7-15E7-610A-D9D563C38F8C}"/>
                  </a:ext>
                </a:extLst>
              </p:cNvPr>
              <p:cNvSpPr txBox="1"/>
              <p:nvPr/>
            </p:nvSpPr>
            <p:spPr>
              <a:xfrm>
                <a:off x="3254419" y="3436384"/>
                <a:ext cx="1449115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글로벌 이차전지 소재기업 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| 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전략기획 파트장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9D4E32-5AA9-F3FC-D9A6-3111AAB53D78}"/>
                  </a:ext>
                </a:extLst>
              </p:cNvPr>
              <p:cNvSpPr txBox="1"/>
              <p:nvPr/>
            </p:nvSpPr>
            <p:spPr>
              <a:xfrm>
                <a:off x="3254419" y="3609015"/>
                <a:ext cx="1277594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K-PPM Solution  | 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마케</a:t>
                </a:r>
                <a:r>
                  <a:rPr lang="ko-KR" altLang="en-US" sz="700" spc="-2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팅</a:t>
                </a:r>
                <a:r>
                  <a:rPr lang="en-US" altLang="ko-KR" sz="700" spc="-2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r>
                  <a:rPr lang="ko-KR" altLang="en-US" sz="700" spc="-1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브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랜딩 총괄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6D93E41-6BCB-73CD-4DC5-16324600B9DE}"/>
                  </a:ext>
                </a:extLst>
              </p:cNvPr>
              <p:cNvSpPr txBox="1"/>
              <p:nvPr/>
            </p:nvSpPr>
            <p:spPr>
              <a:xfrm>
                <a:off x="3254419" y="3781646"/>
                <a:ext cx="977832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공공부문 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| 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경제정책 조사연구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31A13DD-9BE7-4EBC-9CE1-BBF53EE321BE}"/>
                  </a:ext>
                </a:extLst>
              </p:cNvPr>
              <p:cNvSpPr txBox="1"/>
              <p:nvPr/>
            </p:nvSpPr>
            <p:spPr>
              <a:xfrm>
                <a:off x="3254419" y="3954277"/>
                <a:ext cx="1771319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글로벌 프로젝트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| 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평창동계올림픽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세계게임올림픽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9BC30D-2BFD-542C-FDAB-C7E1E9682319}"/>
                  </a:ext>
                </a:extLst>
              </p:cNvPr>
              <p:cNvSpPr txBox="1"/>
              <p:nvPr/>
            </p:nvSpPr>
            <p:spPr>
              <a:xfrm>
                <a:off x="3254419" y="4126908"/>
                <a:ext cx="1054776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세계게임올림픽 서울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,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상하이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57370F5-8D54-C9B6-1E06-827A771D4574}"/>
                  </a:ext>
                </a:extLst>
              </p:cNvPr>
              <p:cNvSpPr txBox="1"/>
              <p:nvPr/>
            </p:nvSpPr>
            <p:spPr>
              <a:xfrm>
                <a:off x="3254419" y="4299539"/>
                <a:ext cx="934551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한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-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아세안 문화교류 기획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6F9963F-A12E-CE9D-26F6-24A72C0359EB}"/>
                  </a:ext>
                </a:extLst>
              </p:cNvPr>
              <p:cNvSpPr txBox="1"/>
              <p:nvPr/>
            </p:nvSpPr>
            <p:spPr>
              <a:xfrm>
                <a:off x="3254419" y="4472171"/>
                <a:ext cx="639599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평창동계올림픽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11E4952-C615-212F-B481-C7E880C8F6D0}"/>
                  </a:ext>
                </a:extLst>
              </p:cNvPr>
              <p:cNvSpPr txBox="1"/>
              <p:nvPr/>
            </p:nvSpPr>
            <p:spPr>
              <a:xfrm>
                <a:off x="3254419" y="3091122"/>
                <a:ext cx="1141338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비공개 신설벤처 창립팀</a:t>
                </a:r>
                <a:r>
                  <a:rPr lang="en-US" altLang="ko-KR" sz="700" spc="-5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  |  </a:t>
                </a:r>
                <a:r>
                  <a:rPr lang="ko-KR" altLang="en-US" sz="700" spc="-5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전략총괄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6131E9E-C691-3C98-B3B0-042BD2C32979}"/>
                  </a:ext>
                </a:extLst>
              </p:cNvPr>
              <p:cNvSpPr txBox="1"/>
              <p:nvPr/>
            </p:nvSpPr>
            <p:spPr>
              <a:xfrm>
                <a:off x="3254419" y="3263753"/>
                <a:ext cx="1354538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독립 자문 컨설턴트</a:t>
                </a:r>
                <a:r>
                  <a:rPr lang="en-US" altLang="ko-KR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  |  </a:t>
                </a:r>
                <a:r>
                  <a:rPr lang="ko-KR" altLang="en-US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전</a:t>
                </a:r>
                <a:r>
                  <a:rPr lang="ko-KR" altLang="en-US" sz="700" spc="-1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략</a:t>
                </a:r>
                <a:r>
                  <a:rPr lang="en-US" altLang="ko-KR" sz="700" spc="-1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r>
                  <a:rPr lang="ko-KR" altLang="en-US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실행 자문</a:t>
                </a:r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56E2F0B-60AE-15C5-289F-6E81E82A5DE1}"/>
              </a:ext>
            </a:extLst>
          </p:cNvPr>
          <p:cNvSpPr txBox="1"/>
          <p:nvPr/>
        </p:nvSpPr>
        <p:spPr>
          <a:xfrm>
            <a:off x="7688584" y="2769748"/>
            <a:ext cx="45365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000" spc="-50">
                <a:ln>
                  <a:solidFill>
                    <a:srgbClr val="66FFCC">
                      <a:alpha val="10000"/>
                    </a:srgbClr>
                  </a:solidFill>
                </a:ln>
                <a:solidFill>
                  <a:srgbClr val="66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7" panose="02020600000000000000" pitchFamily="18" charset="-127"/>
                <a:ea typeface="a고딕17" panose="02020600000000000000" pitchFamily="18" charset="-127"/>
              </a:rPr>
              <a:t>삶의 영역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18A2C0C-B59E-C992-C366-F369C3F2EFEE}"/>
              </a:ext>
            </a:extLst>
          </p:cNvPr>
          <p:cNvGrpSpPr/>
          <p:nvPr/>
        </p:nvGrpSpPr>
        <p:grpSpPr>
          <a:xfrm>
            <a:off x="7070626" y="3091122"/>
            <a:ext cx="1689565" cy="1488771"/>
            <a:chOff x="3254419" y="3091122"/>
            <a:chExt cx="1689565" cy="148877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9E0BDE0-FAF6-EB88-BA26-1BE2D02BB1BC}"/>
                </a:ext>
              </a:extLst>
            </p:cNvPr>
            <p:cNvSpPr txBox="1"/>
            <p:nvPr/>
          </p:nvSpPr>
          <p:spPr>
            <a:xfrm>
              <a:off x="3254419" y="3436384"/>
              <a:ext cx="1375377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글로벌 이차전지 소재기업 전략기획 파트장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97C0AD1-41BD-9BAA-0727-E4B88673662A}"/>
                </a:ext>
              </a:extLst>
            </p:cNvPr>
            <p:cNvSpPr txBox="1"/>
            <p:nvPr/>
          </p:nvSpPr>
          <p:spPr>
            <a:xfrm>
              <a:off x="3254419" y="3609015"/>
              <a:ext cx="896079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K-PPM 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마케</a:t>
              </a:r>
              <a:r>
                <a:rPr lang="ko-KR" altLang="en-US" sz="700" spc="-2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팅</a:t>
              </a:r>
              <a:r>
                <a:rPr lang="en-US" altLang="ko-KR" sz="700" spc="-2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·</a:t>
              </a:r>
              <a:r>
                <a:rPr lang="ko-KR" altLang="en-US" sz="700" spc="-1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브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랜딩 총괄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6BD18EE-817B-7556-9FC1-6E281F646148}"/>
                </a:ext>
              </a:extLst>
            </p:cNvPr>
            <p:cNvSpPr txBox="1"/>
            <p:nvPr/>
          </p:nvSpPr>
          <p:spPr>
            <a:xfrm>
              <a:off x="3254419" y="3781646"/>
              <a:ext cx="1336904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광역지방자치단체 경제국 전문조사연구원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8916F86-F7D0-5D6F-832C-B5E98981D923}"/>
                </a:ext>
              </a:extLst>
            </p:cNvPr>
            <p:cNvSpPr txBox="1"/>
            <p:nvPr/>
          </p:nvSpPr>
          <p:spPr>
            <a:xfrm>
              <a:off x="3254419" y="3954277"/>
              <a:ext cx="65883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도쿄올림픽 한국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B2CFA4F-F138-135B-C931-C4DB88031CA0}"/>
                </a:ext>
              </a:extLst>
            </p:cNvPr>
            <p:cNvSpPr txBox="1"/>
            <p:nvPr/>
          </p:nvSpPr>
          <p:spPr>
            <a:xfrm>
              <a:off x="3254419" y="4126908"/>
              <a:ext cx="105477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세계게임올림픽 서울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, 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상하이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C10DF13-BA14-0173-D079-64C2EB420C48}"/>
                </a:ext>
              </a:extLst>
            </p:cNvPr>
            <p:cNvSpPr txBox="1"/>
            <p:nvPr/>
          </p:nvSpPr>
          <p:spPr>
            <a:xfrm>
              <a:off x="3254419" y="4299539"/>
              <a:ext cx="934551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한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-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아세안 문화교류 기획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B5761D-FF1F-C646-B205-42699BD0898A}"/>
                </a:ext>
              </a:extLst>
            </p:cNvPr>
            <p:cNvSpPr txBox="1"/>
            <p:nvPr/>
          </p:nvSpPr>
          <p:spPr>
            <a:xfrm>
              <a:off x="3254419" y="4472171"/>
              <a:ext cx="639599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평창동계올림픽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A4004D1-242B-3DF6-D710-05C5B700F987}"/>
                </a:ext>
              </a:extLst>
            </p:cNvPr>
            <p:cNvSpPr txBox="1"/>
            <p:nvPr/>
          </p:nvSpPr>
          <p:spPr>
            <a:xfrm>
              <a:off x="3254419" y="3091122"/>
              <a:ext cx="165750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>
                  <a:ln>
                    <a:solidFill>
                      <a:srgbClr val="66FFCC">
                        <a:alpha val="10000"/>
                      </a:srgbClr>
                    </a:solidFill>
                  </a:ln>
                  <a:solidFill>
                    <a:srgbClr val="66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Stealth Venture – Founding Team  |  CSO</a:t>
              </a:r>
              <a:endParaRPr lang="ko-KR" altLang="en-US" sz="700">
                <a:ln>
                  <a:solidFill>
                    <a:srgbClr val="66FFCC">
                      <a:alpha val="10000"/>
                    </a:srgbClr>
                  </a:solidFill>
                </a:ln>
                <a:solidFill>
                  <a:srgbClr val="66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109A816-976E-0694-ED83-B8136AB5E957}"/>
                </a:ext>
              </a:extLst>
            </p:cNvPr>
            <p:cNvSpPr txBox="1"/>
            <p:nvPr/>
          </p:nvSpPr>
          <p:spPr>
            <a:xfrm>
              <a:off x="3254419" y="3263753"/>
              <a:ext cx="168956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>
                  <a:ln>
                    <a:solidFill>
                      <a:srgbClr val="66FFCC">
                        <a:alpha val="10000"/>
                      </a:srgbClr>
                    </a:solidFill>
                  </a:ln>
                  <a:solidFill>
                    <a:srgbClr val="66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Principal  |  Strategy &amp; Execution Advisor</a:t>
              </a:r>
              <a:endParaRPr lang="ko-KR" altLang="en-US" sz="700">
                <a:ln>
                  <a:solidFill>
                    <a:srgbClr val="66FFCC">
                      <a:alpha val="10000"/>
                    </a:srgbClr>
                  </a:solidFill>
                </a:ln>
                <a:solidFill>
                  <a:srgbClr val="66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A052491-606D-B0FE-9DC1-3AEF9DD3341A}"/>
              </a:ext>
            </a:extLst>
          </p:cNvPr>
          <p:cNvSpPr/>
          <p:nvPr/>
        </p:nvSpPr>
        <p:spPr>
          <a:xfrm>
            <a:off x="1574800" y="1106048"/>
            <a:ext cx="4762500" cy="3213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100"/>
              <a:t>최영렬 왼쪽의 최 시작라인과 커리어 여정 가운데가 맞도록 배열 조정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CE44132-EDE8-16C8-C70E-CF44150A60AC}"/>
              </a:ext>
            </a:extLst>
          </p:cNvPr>
          <p:cNvGraphicFramePr>
            <a:graphicFrameLocks noGrp="1"/>
          </p:cNvGraphicFramePr>
          <p:nvPr/>
        </p:nvGraphicFramePr>
        <p:xfrm>
          <a:off x="4613430" y="3620387"/>
          <a:ext cx="2176463" cy="19146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1475">
                  <a:extLst>
                    <a:ext uri="{9D8B030D-6E8A-4147-A177-3AD203B41FA5}">
                      <a16:colId xmlns:a16="http://schemas.microsoft.com/office/drawing/2014/main" val="3385151631"/>
                    </a:ext>
                  </a:extLst>
                </a:gridCol>
                <a:gridCol w="919163">
                  <a:extLst>
                    <a:ext uri="{9D8B030D-6E8A-4147-A177-3AD203B41FA5}">
                      <a16:colId xmlns:a16="http://schemas.microsoft.com/office/drawing/2014/main" val="2925553912"/>
                    </a:ext>
                  </a:extLst>
                </a:gridCol>
                <a:gridCol w="588168">
                  <a:extLst>
                    <a:ext uri="{9D8B030D-6E8A-4147-A177-3AD203B41FA5}">
                      <a16:colId xmlns:a16="http://schemas.microsoft.com/office/drawing/2014/main" val="899519749"/>
                    </a:ext>
                  </a:extLst>
                </a:gridCol>
                <a:gridCol w="297657">
                  <a:extLst>
                    <a:ext uri="{9D8B030D-6E8A-4147-A177-3AD203B41FA5}">
                      <a16:colId xmlns:a16="http://schemas.microsoft.com/office/drawing/2014/main" val="3542267383"/>
                    </a:ext>
                  </a:extLst>
                </a:gridCol>
              </a:tblGrid>
              <a:tr h="12742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5" panose="02020600000000000000" pitchFamily="18" charset="-127"/>
                          <a:ea typeface="a고딕15" panose="02020600000000000000" pitchFamily="18" charset="-127"/>
                          <a:cs typeface="+mn-cs"/>
                        </a:rPr>
                        <a:t>프로젝트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66F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kern="1200" spc="-5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5" panose="02020600000000000000" pitchFamily="18" charset="-127"/>
                        <a:ea typeface="a고딕15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66F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5" panose="02020600000000000000" pitchFamily="18" charset="-127"/>
                          <a:ea typeface="a고딕15" panose="02020600000000000000" pitchFamily="18" charset="-127"/>
                          <a:cs typeface="+mn-cs"/>
                        </a:rPr>
                        <a:t>역할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66F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66F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48349"/>
                  </a:ext>
                </a:extLst>
              </a:tr>
              <a:tr h="1985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kern="1200" spc="-10" baseline="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2026 ~</a:t>
                      </a:r>
                      <a:endParaRPr lang="ko-KR" altLang="en-US" sz="700" kern="1200" spc="-10" baseline="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N</a:t>
                      </a:r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社</a:t>
                      </a:r>
                      <a:r>
                        <a:rPr lang="en-US" altLang="ko-KR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, K</a:t>
                      </a:r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社 외부 컨설턴트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전략</a:t>
                      </a:r>
                      <a:r>
                        <a:rPr lang="en-US" altLang="ko-KR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실행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자문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384688"/>
                  </a:ext>
                </a:extLst>
              </a:tr>
              <a:tr h="198585">
                <a:tc>
                  <a:txBody>
                    <a:bodyPr/>
                    <a:lstStyle/>
                    <a:p>
                      <a:pPr algn="ctr" latinLnBrk="1"/>
                      <a:endParaRPr lang="ko-KR" altLang="en-US" sz="700" kern="1200" spc="-10" baseline="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비공개 신설벤처 창립팀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전략기획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총괄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208"/>
                  </a:ext>
                </a:extLst>
              </a:tr>
              <a:tr h="1985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kern="1200" spc="-10" baseline="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2025</a:t>
                      </a:r>
                      <a:endParaRPr lang="ko-KR" altLang="en-US" sz="700" kern="1200" spc="-10" baseline="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글로벌 이차전지 소재기업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전략기획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파트장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101567"/>
                  </a:ext>
                </a:extLst>
              </a:tr>
              <a:tr h="1985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kern="1200" spc="-10" baseline="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2022</a:t>
                      </a:r>
                      <a:endParaRPr lang="ko-KR" altLang="en-US" sz="700" kern="1200" spc="-10" baseline="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K-PPM Solution</a:t>
                      </a:r>
                      <a:endParaRPr lang="ko-KR" altLang="en-US" sz="700" kern="1200" spc="-5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경영기획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부실장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693131"/>
                  </a:ext>
                </a:extLst>
              </a:tr>
              <a:tr h="1985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kern="1200" spc="-10" baseline="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2021</a:t>
                      </a:r>
                      <a:endParaRPr lang="ko-KR" altLang="en-US" sz="700" kern="1200" spc="-10" baseline="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광역지방자치단체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조사연구원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6</a:t>
                      </a:r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급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582849"/>
                  </a:ext>
                </a:extLst>
              </a:tr>
              <a:tr h="1985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kern="1200" spc="-10" baseline="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2020</a:t>
                      </a:r>
                      <a:endParaRPr lang="ko-KR" altLang="en-US" sz="700" kern="1200" spc="-10" baseline="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도쿄올림픽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메가프로젝트</a:t>
                      </a:r>
                    </a:p>
                  </a:txBody>
                  <a:tcPr marL="0" marR="0" marT="0" marB="0" anchor="ctr">
                    <a:lnR>
                      <a:noFill/>
                    </a:lnR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PM</a:t>
                      </a:r>
                      <a:endParaRPr lang="ko-KR" altLang="en-US" sz="700" kern="1200" spc="-5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361711"/>
                  </a:ext>
                </a:extLst>
              </a:tr>
              <a:tr h="198585">
                <a:tc>
                  <a:txBody>
                    <a:bodyPr/>
                    <a:lstStyle/>
                    <a:p>
                      <a:pPr algn="ctr" latinLnBrk="1"/>
                      <a:endParaRPr lang="ko-KR" altLang="en-US" sz="700" kern="1200" spc="-10" baseline="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세계게임올림픽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kern="1200" spc="-5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kern="1200" spc="-5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062627"/>
                  </a:ext>
                </a:extLst>
              </a:tr>
              <a:tr h="198585">
                <a:tc>
                  <a:txBody>
                    <a:bodyPr/>
                    <a:lstStyle/>
                    <a:p>
                      <a:pPr algn="ctr" latinLnBrk="1"/>
                      <a:endParaRPr lang="ko-KR" altLang="en-US" sz="700" kern="1200" spc="-10" baseline="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한</a:t>
                      </a:r>
                      <a:r>
                        <a:rPr lang="en-US" altLang="ko-KR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-</a:t>
                      </a:r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아세안 문화교류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kern="1200" spc="-5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kern="1200" spc="-5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352130"/>
                  </a:ext>
                </a:extLst>
              </a:tr>
              <a:tr h="198585">
                <a:tc>
                  <a:txBody>
                    <a:bodyPr/>
                    <a:lstStyle/>
                    <a:p>
                      <a:pPr algn="ctr" latinLnBrk="1"/>
                      <a:endParaRPr lang="ko-KR" altLang="en-US" sz="700" kern="1200" spc="-10" baseline="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평창동계올림픽</a:t>
                      </a:r>
                    </a:p>
                  </a:txBody>
                  <a:tcPr marL="0" marR="0" marT="0" marB="0" anchor="ctr">
                    <a:lnB w="19050" cap="flat" cmpd="sng" algn="ctr">
                      <a:solidFill>
                        <a:srgbClr val="66F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kern="1200" spc="-5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kern="1200" spc="-5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816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208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CE37AC-E936-E768-CABB-3BC4FB633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DB85FF5-A535-A445-9B53-2145D1B38B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0" r="67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EBAB27C-205A-41A5-3929-18E323C32296}"/>
              </a:ext>
            </a:extLst>
          </p:cNvPr>
          <p:cNvSpPr/>
          <p:nvPr/>
        </p:nvSpPr>
        <p:spPr>
          <a:xfrm>
            <a:off x="0" y="2600529"/>
            <a:ext cx="12192000" cy="213149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CDD45AC-084E-0EE1-1AF5-9FDEB09FC4E3}"/>
              </a:ext>
            </a:extLst>
          </p:cNvPr>
          <p:cNvGrpSpPr/>
          <p:nvPr/>
        </p:nvGrpSpPr>
        <p:grpSpPr>
          <a:xfrm>
            <a:off x="3431810" y="2769748"/>
            <a:ext cx="1771319" cy="1810145"/>
            <a:chOff x="3079369" y="2769748"/>
            <a:chExt cx="1771319" cy="181014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A34C218-28F0-3041-156C-7E93452510AE}"/>
                </a:ext>
              </a:extLst>
            </p:cNvPr>
            <p:cNvSpPr txBox="1"/>
            <p:nvPr/>
          </p:nvSpPr>
          <p:spPr>
            <a:xfrm>
              <a:off x="3468096" y="2769748"/>
              <a:ext cx="55944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000" spc="-50">
                  <a:ln>
                    <a:solidFill>
                      <a:srgbClr val="66FFCC">
                        <a:alpha val="10000"/>
                      </a:srgbClr>
                    </a:solidFill>
                  </a:ln>
                  <a:solidFill>
                    <a:srgbClr val="66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7" panose="02020600000000000000" pitchFamily="18" charset="-127"/>
                  <a:ea typeface="a고딕17" panose="02020600000000000000" pitchFamily="18" charset="-127"/>
                </a:rPr>
                <a:t>커리어 여정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006010BC-A0A9-CC64-FB42-248BEEBA77DE}"/>
                </a:ext>
              </a:extLst>
            </p:cNvPr>
            <p:cNvGrpSpPr/>
            <p:nvPr/>
          </p:nvGrpSpPr>
          <p:grpSpPr>
            <a:xfrm>
              <a:off x="3079369" y="3091122"/>
              <a:ext cx="1771319" cy="1488771"/>
              <a:chOff x="3254419" y="3091122"/>
              <a:chExt cx="1771319" cy="148877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C85141-C947-4B58-E9B7-E6451E5D3A54}"/>
                  </a:ext>
                </a:extLst>
              </p:cNvPr>
              <p:cNvSpPr txBox="1"/>
              <p:nvPr/>
            </p:nvSpPr>
            <p:spPr>
              <a:xfrm>
                <a:off x="3254419" y="3436384"/>
                <a:ext cx="1449115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글로벌 이차전지 소재기업 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| 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전략기획 파트장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866016-CBC8-1BA8-6FC5-F83A26D7A5D6}"/>
                  </a:ext>
                </a:extLst>
              </p:cNvPr>
              <p:cNvSpPr txBox="1"/>
              <p:nvPr/>
            </p:nvSpPr>
            <p:spPr>
              <a:xfrm>
                <a:off x="3254419" y="3609015"/>
                <a:ext cx="1277594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K-PPM Solution  | 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마케</a:t>
                </a:r>
                <a:r>
                  <a:rPr lang="ko-KR" altLang="en-US" sz="700" spc="-2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팅</a:t>
                </a:r>
                <a:r>
                  <a:rPr lang="en-US" altLang="ko-KR" sz="700" spc="-2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r>
                  <a:rPr lang="ko-KR" altLang="en-US" sz="700" spc="-1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브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랜딩 총괄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CF412F-02ED-80A6-73B6-4431B4926B56}"/>
                  </a:ext>
                </a:extLst>
              </p:cNvPr>
              <p:cNvSpPr txBox="1"/>
              <p:nvPr/>
            </p:nvSpPr>
            <p:spPr>
              <a:xfrm>
                <a:off x="3254419" y="3781646"/>
                <a:ext cx="977832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공공부문 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| 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경제정책 조사연구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AA5F711-1890-5BC9-BF60-74DCA406BB1D}"/>
                  </a:ext>
                </a:extLst>
              </p:cNvPr>
              <p:cNvSpPr txBox="1"/>
              <p:nvPr/>
            </p:nvSpPr>
            <p:spPr>
              <a:xfrm>
                <a:off x="3254419" y="3954277"/>
                <a:ext cx="1771319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글로벌 프로젝트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| 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평창동계올림픽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세계게임올림픽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99C9705-5876-1CE0-8390-941920986809}"/>
                  </a:ext>
                </a:extLst>
              </p:cNvPr>
              <p:cNvSpPr txBox="1"/>
              <p:nvPr/>
            </p:nvSpPr>
            <p:spPr>
              <a:xfrm>
                <a:off x="3254419" y="4126908"/>
                <a:ext cx="1054776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세계게임올림픽 서울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,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상하이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FA43510-4646-38DF-2C98-702BF9CA6030}"/>
                  </a:ext>
                </a:extLst>
              </p:cNvPr>
              <p:cNvSpPr txBox="1"/>
              <p:nvPr/>
            </p:nvSpPr>
            <p:spPr>
              <a:xfrm>
                <a:off x="3254419" y="4299539"/>
                <a:ext cx="934551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한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-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아세안 문화교류 기획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42BF831-B213-4FBE-5CEF-B57C51584D89}"/>
                  </a:ext>
                </a:extLst>
              </p:cNvPr>
              <p:cNvSpPr txBox="1"/>
              <p:nvPr/>
            </p:nvSpPr>
            <p:spPr>
              <a:xfrm>
                <a:off x="3254419" y="4472171"/>
                <a:ext cx="639599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평창동계올림픽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F0B7870-602E-642D-3C38-6917B8FCC328}"/>
                  </a:ext>
                </a:extLst>
              </p:cNvPr>
              <p:cNvSpPr txBox="1"/>
              <p:nvPr/>
            </p:nvSpPr>
            <p:spPr>
              <a:xfrm>
                <a:off x="3254419" y="3091122"/>
                <a:ext cx="1141338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비공개 신설벤처 창립팀</a:t>
                </a:r>
                <a:r>
                  <a:rPr lang="en-US" altLang="ko-KR" sz="700" spc="-5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  |  </a:t>
                </a:r>
                <a:r>
                  <a:rPr lang="ko-KR" altLang="en-US" sz="700" spc="-5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전략총괄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348F172-23F6-AFE2-C201-121DC1EFA51D}"/>
                  </a:ext>
                </a:extLst>
              </p:cNvPr>
              <p:cNvSpPr txBox="1"/>
              <p:nvPr/>
            </p:nvSpPr>
            <p:spPr>
              <a:xfrm>
                <a:off x="3254419" y="3263753"/>
                <a:ext cx="1354538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독립 자문 컨설턴트</a:t>
                </a:r>
                <a:r>
                  <a:rPr lang="en-US" altLang="ko-KR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  |  </a:t>
                </a:r>
                <a:r>
                  <a:rPr lang="ko-KR" altLang="en-US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전</a:t>
                </a:r>
                <a:r>
                  <a:rPr lang="ko-KR" altLang="en-US" sz="700" spc="-1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략</a:t>
                </a:r>
                <a:r>
                  <a:rPr lang="en-US" altLang="ko-KR" sz="700" spc="-1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r>
                  <a:rPr lang="ko-KR" altLang="en-US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실행 자문</a:t>
                </a:r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E93465B-381A-C214-FCCC-22AF832E2DE8}"/>
              </a:ext>
            </a:extLst>
          </p:cNvPr>
          <p:cNvSpPr txBox="1"/>
          <p:nvPr/>
        </p:nvSpPr>
        <p:spPr>
          <a:xfrm>
            <a:off x="7688584" y="2769748"/>
            <a:ext cx="45365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000" spc="-50">
                <a:ln>
                  <a:solidFill>
                    <a:srgbClr val="66FFCC">
                      <a:alpha val="10000"/>
                    </a:srgbClr>
                  </a:solidFill>
                </a:ln>
                <a:solidFill>
                  <a:srgbClr val="66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7" panose="02020600000000000000" pitchFamily="18" charset="-127"/>
                <a:ea typeface="a고딕17" panose="02020600000000000000" pitchFamily="18" charset="-127"/>
              </a:rPr>
              <a:t>삶의 영역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6E855B5-C12F-CD25-3BAE-FDEDBD7BF705}"/>
              </a:ext>
            </a:extLst>
          </p:cNvPr>
          <p:cNvGrpSpPr/>
          <p:nvPr/>
        </p:nvGrpSpPr>
        <p:grpSpPr>
          <a:xfrm>
            <a:off x="7070626" y="3091122"/>
            <a:ext cx="1689565" cy="1488771"/>
            <a:chOff x="3254419" y="3091122"/>
            <a:chExt cx="1689565" cy="148877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FE8A960-8A84-754F-6239-AB96C7857D3C}"/>
                </a:ext>
              </a:extLst>
            </p:cNvPr>
            <p:cNvSpPr txBox="1"/>
            <p:nvPr/>
          </p:nvSpPr>
          <p:spPr>
            <a:xfrm>
              <a:off x="3254419" y="3436384"/>
              <a:ext cx="1375377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글로벌 이차전지 소재기업 전략기획 파트장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436B473-3129-64AA-EF2B-F96152CFB2D6}"/>
                </a:ext>
              </a:extLst>
            </p:cNvPr>
            <p:cNvSpPr txBox="1"/>
            <p:nvPr/>
          </p:nvSpPr>
          <p:spPr>
            <a:xfrm>
              <a:off x="3254419" y="3609015"/>
              <a:ext cx="896079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K-PPM 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마케</a:t>
              </a:r>
              <a:r>
                <a:rPr lang="ko-KR" altLang="en-US" sz="700" spc="-2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팅</a:t>
              </a:r>
              <a:r>
                <a:rPr lang="en-US" altLang="ko-KR" sz="700" spc="-2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·</a:t>
              </a:r>
              <a:r>
                <a:rPr lang="ko-KR" altLang="en-US" sz="700" spc="-1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브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랜딩 총괄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373BB6-9C49-BB59-4D26-84078AE505A6}"/>
                </a:ext>
              </a:extLst>
            </p:cNvPr>
            <p:cNvSpPr txBox="1"/>
            <p:nvPr/>
          </p:nvSpPr>
          <p:spPr>
            <a:xfrm>
              <a:off x="3254419" y="3781646"/>
              <a:ext cx="1336904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광역지방자치단체 경제국 전문조사연구원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BEF057-AF8F-6DF5-AA5E-99EBD950FA19}"/>
                </a:ext>
              </a:extLst>
            </p:cNvPr>
            <p:cNvSpPr txBox="1"/>
            <p:nvPr/>
          </p:nvSpPr>
          <p:spPr>
            <a:xfrm>
              <a:off x="3254419" y="3954277"/>
              <a:ext cx="65883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도쿄올림픽 한국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05114E8-4F9A-F48A-B6C9-8AFDCE984EE6}"/>
                </a:ext>
              </a:extLst>
            </p:cNvPr>
            <p:cNvSpPr txBox="1"/>
            <p:nvPr/>
          </p:nvSpPr>
          <p:spPr>
            <a:xfrm>
              <a:off x="3254419" y="4126908"/>
              <a:ext cx="105477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세계게임올림픽 서울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, 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상하이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115BF54-919F-BE26-BF63-8F5F2D0A287F}"/>
                </a:ext>
              </a:extLst>
            </p:cNvPr>
            <p:cNvSpPr txBox="1"/>
            <p:nvPr/>
          </p:nvSpPr>
          <p:spPr>
            <a:xfrm>
              <a:off x="3254419" y="4299539"/>
              <a:ext cx="934551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한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-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아세안 문화교류 기획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3930AC6-73DE-975C-2320-86FAA06339A0}"/>
                </a:ext>
              </a:extLst>
            </p:cNvPr>
            <p:cNvSpPr txBox="1"/>
            <p:nvPr/>
          </p:nvSpPr>
          <p:spPr>
            <a:xfrm>
              <a:off x="3254419" y="4472171"/>
              <a:ext cx="639599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평창동계올림픽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FEE05EF-EEBE-A817-F204-231EE5C415DA}"/>
                </a:ext>
              </a:extLst>
            </p:cNvPr>
            <p:cNvSpPr txBox="1"/>
            <p:nvPr/>
          </p:nvSpPr>
          <p:spPr>
            <a:xfrm>
              <a:off x="3254419" y="3091122"/>
              <a:ext cx="165750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>
                  <a:ln>
                    <a:solidFill>
                      <a:srgbClr val="66FFCC">
                        <a:alpha val="10000"/>
                      </a:srgbClr>
                    </a:solidFill>
                  </a:ln>
                  <a:solidFill>
                    <a:srgbClr val="66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Stealth Venture – Founding Team  |  CSO</a:t>
              </a:r>
              <a:endParaRPr lang="ko-KR" altLang="en-US" sz="700">
                <a:ln>
                  <a:solidFill>
                    <a:srgbClr val="66FFCC">
                      <a:alpha val="10000"/>
                    </a:srgbClr>
                  </a:solidFill>
                </a:ln>
                <a:solidFill>
                  <a:srgbClr val="66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82320F7-547A-9DA8-012F-A1DA1D0ACABF}"/>
                </a:ext>
              </a:extLst>
            </p:cNvPr>
            <p:cNvSpPr txBox="1"/>
            <p:nvPr/>
          </p:nvSpPr>
          <p:spPr>
            <a:xfrm>
              <a:off x="3254419" y="3263753"/>
              <a:ext cx="168956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>
                  <a:ln>
                    <a:solidFill>
                      <a:srgbClr val="66FFCC">
                        <a:alpha val="10000"/>
                      </a:srgbClr>
                    </a:solidFill>
                  </a:ln>
                  <a:solidFill>
                    <a:srgbClr val="66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Principal  |  Strategy &amp; Execution Advisor</a:t>
              </a:r>
              <a:endParaRPr lang="ko-KR" altLang="en-US" sz="700">
                <a:ln>
                  <a:solidFill>
                    <a:srgbClr val="66FFCC">
                      <a:alpha val="10000"/>
                    </a:srgbClr>
                  </a:solidFill>
                </a:ln>
                <a:solidFill>
                  <a:srgbClr val="66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2799D6F-2458-A1BE-1A1B-0CAEC3AC8F57}"/>
              </a:ext>
            </a:extLst>
          </p:cNvPr>
          <p:cNvSpPr/>
          <p:nvPr/>
        </p:nvSpPr>
        <p:spPr>
          <a:xfrm>
            <a:off x="1574800" y="1106048"/>
            <a:ext cx="4762500" cy="3213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100"/>
              <a:t>최영렬 왼쪽의 최 시작라인과 커리어 여정 가운데가 맞도록 배열 조정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4E8A7CA-89D1-7F4B-F1E1-F5C17B42CE8C}"/>
              </a:ext>
            </a:extLst>
          </p:cNvPr>
          <p:cNvGraphicFramePr>
            <a:graphicFrameLocks noGrp="1"/>
          </p:cNvGraphicFramePr>
          <p:nvPr/>
        </p:nvGraphicFramePr>
        <p:xfrm>
          <a:off x="1533525" y="4277384"/>
          <a:ext cx="2176463" cy="19146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1475">
                  <a:extLst>
                    <a:ext uri="{9D8B030D-6E8A-4147-A177-3AD203B41FA5}">
                      <a16:colId xmlns:a16="http://schemas.microsoft.com/office/drawing/2014/main" val="3385151631"/>
                    </a:ext>
                  </a:extLst>
                </a:gridCol>
                <a:gridCol w="919163">
                  <a:extLst>
                    <a:ext uri="{9D8B030D-6E8A-4147-A177-3AD203B41FA5}">
                      <a16:colId xmlns:a16="http://schemas.microsoft.com/office/drawing/2014/main" val="2925553912"/>
                    </a:ext>
                  </a:extLst>
                </a:gridCol>
                <a:gridCol w="588168">
                  <a:extLst>
                    <a:ext uri="{9D8B030D-6E8A-4147-A177-3AD203B41FA5}">
                      <a16:colId xmlns:a16="http://schemas.microsoft.com/office/drawing/2014/main" val="899519749"/>
                    </a:ext>
                  </a:extLst>
                </a:gridCol>
                <a:gridCol w="297657">
                  <a:extLst>
                    <a:ext uri="{9D8B030D-6E8A-4147-A177-3AD203B41FA5}">
                      <a16:colId xmlns:a16="http://schemas.microsoft.com/office/drawing/2014/main" val="3542267383"/>
                    </a:ext>
                  </a:extLst>
                </a:gridCol>
              </a:tblGrid>
              <a:tr h="12742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5" panose="02020600000000000000" pitchFamily="18" charset="-127"/>
                          <a:ea typeface="a고딕15" panose="02020600000000000000" pitchFamily="18" charset="-127"/>
                          <a:cs typeface="+mn-cs"/>
                        </a:rPr>
                        <a:t>활동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66F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700" kern="1200" spc="-5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5" panose="02020600000000000000" pitchFamily="18" charset="-127"/>
                        <a:ea typeface="a고딕15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66F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5" panose="02020600000000000000" pitchFamily="18" charset="-127"/>
                          <a:ea typeface="a고딕15" panose="02020600000000000000" pitchFamily="18" charset="-127"/>
                          <a:cs typeface="+mn-cs"/>
                        </a:rPr>
                        <a:t>역할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66F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T w="19050" cap="flat" cmpd="sng" algn="ctr">
                      <a:solidFill>
                        <a:srgbClr val="66F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648349"/>
                  </a:ext>
                </a:extLst>
              </a:tr>
              <a:tr h="1985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kern="1200" spc="-10" baseline="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2026 ~</a:t>
                      </a:r>
                      <a:endParaRPr lang="ko-KR" altLang="en-US" sz="700" kern="1200" spc="-10" baseline="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N</a:t>
                      </a:r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社</a:t>
                      </a:r>
                      <a:r>
                        <a:rPr lang="en-US" altLang="ko-KR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, K</a:t>
                      </a:r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社 외부 컨설턴트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전략</a:t>
                      </a:r>
                      <a:r>
                        <a:rPr lang="en-US" altLang="ko-KR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실행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자문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384688"/>
                  </a:ext>
                </a:extLst>
              </a:tr>
              <a:tr h="198585">
                <a:tc>
                  <a:txBody>
                    <a:bodyPr/>
                    <a:lstStyle/>
                    <a:p>
                      <a:pPr algn="ctr" latinLnBrk="1"/>
                      <a:endParaRPr lang="ko-KR" altLang="en-US" sz="700" kern="1200" spc="-10" baseline="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비공개 신설벤처 창립팀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전략기획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총괄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37208"/>
                  </a:ext>
                </a:extLst>
              </a:tr>
              <a:tr h="1985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kern="1200" spc="-10" baseline="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2025</a:t>
                      </a:r>
                      <a:endParaRPr lang="ko-KR" altLang="en-US" sz="700" kern="1200" spc="-10" baseline="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글로벌 이차전지 소재기업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전략기획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파트장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101567"/>
                  </a:ext>
                </a:extLst>
              </a:tr>
              <a:tr h="1985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kern="1200" spc="-10" baseline="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2022</a:t>
                      </a:r>
                      <a:endParaRPr lang="ko-KR" altLang="en-US" sz="700" kern="1200" spc="-10" baseline="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K-PPM Solution</a:t>
                      </a:r>
                      <a:endParaRPr lang="ko-KR" altLang="en-US" sz="700" kern="1200" spc="-5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경영기획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부실장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693131"/>
                  </a:ext>
                </a:extLst>
              </a:tr>
              <a:tr h="1985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kern="1200" spc="-10" baseline="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2021</a:t>
                      </a:r>
                      <a:endParaRPr lang="ko-KR" altLang="en-US" sz="700" kern="1200" spc="-10" baseline="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광역지방자치단체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조사연구원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6</a:t>
                      </a:r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급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582849"/>
                  </a:ext>
                </a:extLst>
              </a:tr>
              <a:tr h="19858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kern="1200" spc="-10" baseline="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2020</a:t>
                      </a:r>
                      <a:endParaRPr lang="ko-KR" altLang="en-US" sz="700" kern="1200" spc="-10" baseline="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B w="19050" cap="flat" cmpd="sng" algn="ctr">
                      <a:solidFill>
                        <a:srgbClr val="66F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도쿄올림픽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메가프로젝트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PM</a:t>
                      </a:r>
                      <a:endParaRPr lang="ko-KR" altLang="en-US" sz="700" kern="1200" spc="-5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361711"/>
                  </a:ext>
                </a:extLst>
              </a:tr>
              <a:tr h="1985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 kern="1200" spc="-10" baseline="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세계게임올림픽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kern="1200" spc="-5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kern="1200" spc="-5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062627"/>
                  </a:ext>
                </a:extLst>
              </a:tr>
              <a:tr h="1985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 kern="1200" spc="-10" baseline="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한</a:t>
                      </a:r>
                      <a:r>
                        <a:rPr lang="en-US" altLang="ko-KR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-</a:t>
                      </a:r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아세안 문화교류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kern="1200" spc="-5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kern="1200" spc="-5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352130"/>
                  </a:ext>
                </a:extLst>
              </a:tr>
              <a:tr h="1985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700" kern="1200" spc="-10" baseline="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B w="19050" cap="flat" cmpd="sng" algn="ctr">
                      <a:solidFill>
                        <a:srgbClr val="66F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700" kern="1200" spc="-50">
                          <a:ln>
                            <a:solidFill>
                              <a:schemeClr val="bg1">
                                <a:alpha val="10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평창동계올림픽</a:t>
                      </a:r>
                    </a:p>
                  </a:txBody>
                  <a:tcPr marL="0" marR="0" marT="0" marB="0" anchor="ctr">
                    <a:lnB w="19050" cap="flat" cmpd="sng" algn="ctr">
                      <a:solidFill>
                        <a:srgbClr val="66F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kern="1200" spc="-5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B w="19050" cap="flat" cmpd="sng" algn="ctr">
                      <a:solidFill>
                        <a:srgbClr val="66F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kern="1200" spc="-50">
                        <a:ln>
                          <a:solidFill>
                            <a:schemeClr val="bg1">
                              <a:alpha val="1000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3" panose="02020600000000000000" pitchFamily="18" charset="-127"/>
                        <a:ea typeface="a고딕13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B w="19050" cap="flat" cmpd="sng" algn="ctr">
                      <a:solidFill>
                        <a:srgbClr val="66F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816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010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516DB-BD7E-F03A-F0D4-2A3B193AD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A31C195-63DC-6D25-0586-53ED6E917D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0" r="67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62C6A5B-EEAB-41B6-D8DC-64BF8D4390F1}"/>
              </a:ext>
            </a:extLst>
          </p:cNvPr>
          <p:cNvSpPr/>
          <p:nvPr/>
        </p:nvSpPr>
        <p:spPr>
          <a:xfrm>
            <a:off x="0" y="2600529"/>
            <a:ext cx="12192000" cy="213149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986F9F9-F60A-B94D-F68D-106274B3684B}"/>
              </a:ext>
            </a:extLst>
          </p:cNvPr>
          <p:cNvGrpSpPr/>
          <p:nvPr/>
        </p:nvGrpSpPr>
        <p:grpSpPr>
          <a:xfrm>
            <a:off x="3431810" y="2769748"/>
            <a:ext cx="1375377" cy="1810145"/>
            <a:chOff x="3079369" y="2769748"/>
            <a:chExt cx="1375377" cy="181014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DDB039-E6C1-8D03-EFE9-494A5CB80F9D}"/>
                </a:ext>
              </a:extLst>
            </p:cNvPr>
            <p:cNvSpPr txBox="1"/>
            <p:nvPr/>
          </p:nvSpPr>
          <p:spPr>
            <a:xfrm>
              <a:off x="3468096" y="2769748"/>
              <a:ext cx="55944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000" spc="-50">
                  <a:ln>
                    <a:solidFill>
                      <a:srgbClr val="66FFCC">
                        <a:alpha val="10000"/>
                      </a:srgbClr>
                    </a:solidFill>
                  </a:ln>
                  <a:solidFill>
                    <a:srgbClr val="66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7" panose="02020600000000000000" pitchFamily="18" charset="-127"/>
                  <a:ea typeface="a고딕17" panose="02020600000000000000" pitchFamily="18" charset="-127"/>
                </a:rPr>
                <a:t>커리어 여정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9AB5148C-556F-D851-814C-423162954059}"/>
                </a:ext>
              </a:extLst>
            </p:cNvPr>
            <p:cNvGrpSpPr/>
            <p:nvPr/>
          </p:nvGrpSpPr>
          <p:grpSpPr>
            <a:xfrm>
              <a:off x="3079369" y="3091122"/>
              <a:ext cx="1375377" cy="1488771"/>
              <a:chOff x="3254419" y="3091122"/>
              <a:chExt cx="1375377" cy="148877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1000E0-645F-273F-C1C0-2C10B5659A06}"/>
                  </a:ext>
                </a:extLst>
              </p:cNvPr>
              <p:cNvSpPr txBox="1"/>
              <p:nvPr/>
            </p:nvSpPr>
            <p:spPr>
              <a:xfrm>
                <a:off x="3254419" y="3436384"/>
                <a:ext cx="1375377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글로벌 이차전지 소재기업 전략기획 파트장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1BF098-791C-D5CA-5788-602512ECF937}"/>
                  </a:ext>
                </a:extLst>
              </p:cNvPr>
              <p:cNvSpPr txBox="1"/>
              <p:nvPr/>
            </p:nvSpPr>
            <p:spPr>
              <a:xfrm>
                <a:off x="3254419" y="3609015"/>
                <a:ext cx="896079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K-PPM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마케</a:t>
                </a:r>
                <a:r>
                  <a:rPr lang="ko-KR" altLang="en-US" sz="700" spc="-2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팅</a:t>
                </a:r>
                <a:r>
                  <a:rPr lang="en-US" altLang="ko-KR" sz="700" spc="-2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r>
                  <a:rPr lang="ko-KR" altLang="en-US" sz="700" spc="-1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브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랜딩 총괄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9E3482-8A3B-8D88-F35C-DCFF4CCCE922}"/>
                  </a:ext>
                </a:extLst>
              </p:cNvPr>
              <p:cNvSpPr txBox="1"/>
              <p:nvPr/>
            </p:nvSpPr>
            <p:spPr>
              <a:xfrm>
                <a:off x="3254419" y="3781646"/>
                <a:ext cx="1336904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광역지방자치단체 경제국 전문조사연구원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BE1248A-78E4-0C13-0011-ECB93FEFB197}"/>
                  </a:ext>
                </a:extLst>
              </p:cNvPr>
              <p:cNvSpPr txBox="1"/>
              <p:nvPr/>
            </p:nvSpPr>
            <p:spPr>
              <a:xfrm>
                <a:off x="3254419" y="3954277"/>
                <a:ext cx="658835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도쿄올림픽 한국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72AA64B-21D8-A052-1957-98811B4DE48D}"/>
                  </a:ext>
                </a:extLst>
              </p:cNvPr>
              <p:cNvSpPr txBox="1"/>
              <p:nvPr/>
            </p:nvSpPr>
            <p:spPr>
              <a:xfrm>
                <a:off x="3254419" y="4126908"/>
                <a:ext cx="1054776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세계게임올림픽 서울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,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상하이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4B2F6E1-9C39-D446-0A69-B9932EDDA067}"/>
                  </a:ext>
                </a:extLst>
              </p:cNvPr>
              <p:cNvSpPr txBox="1"/>
              <p:nvPr/>
            </p:nvSpPr>
            <p:spPr>
              <a:xfrm>
                <a:off x="3254419" y="4299539"/>
                <a:ext cx="934551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한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-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아세안 문화교류 기획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CDFE3A5-49CC-CB6D-B665-AA0602D77A85}"/>
                  </a:ext>
                </a:extLst>
              </p:cNvPr>
              <p:cNvSpPr txBox="1"/>
              <p:nvPr/>
            </p:nvSpPr>
            <p:spPr>
              <a:xfrm>
                <a:off x="3254419" y="4472171"/>
                <a:ext cx="639599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평창동계올림픽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59A20A2-3930-F352-C999-6F3E2C34F60B}"/>
                  </a:ext>
                </a:extLst>
              </p:cNvPr>
              <p:cNvSpPr txBox="1"/>
              <p:nvPr/>
            </p:nvSpPr>
            <p:spPr>
              <a:xfrm>
                <a:off x="3254419" y="3091122"/>
                <a:ext cx="1141338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비공개 신설벤처 창립팀</a:t>
                </a:r>
                <a:r>
                  <a:rPr lang="en-US" altLang="ko-KR" sz="700" spc="-5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  |  </a:t>
                </a:r>
                <a:r>
                  <a:rPr lang="ko-KR" altLang="en-US" sz="700" spc="-5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전략총괄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607A839-1ADB-9B2C-26F3-5F41EBD5F23E}"/>
                  </a:ext>
                </a:extLst>
              </p:cNvPr>
              <p:cNvSpPr txBox="1"/>
              <p:nvPr/>
            </p:nvSpPr>
            <p:spPr>
              <a:xfrm>
                <a:off x="3254419" y="3263753"/>
                <a:ext cx="1040349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독립 자문</a:t>
                </a:r>
                <a:r>
                  <a:rPr lang="en-US" altLang="ko-KR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  |  </a:t>
                </a:r>
                <a:r>
                  <a:rPr lang="ko-KR" altLang="en-US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전</a:t>
                </a:r>
                <a:r>
                  <a:rPr lang="ko-KR" altLang="en-US" sz="700" spc="-1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략</a:t>
                </a:r>
                <a:r>
                  <a:rPr lang="en-US" altLang="ko-KR" sz="700" spc="-1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r>
                  <a:rPr lang="ko-KR" altLang="en-US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실행 자문</a:t>
                </a:r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5323348-292D-ED83-89C3-0748F693DEB6}"/>
              </a:ext>
            </a:extLst>
          </p:cNvPr>
          <p:cNvSpPr txBox="1"/>
          <p:nvPr/>
        </p:nvSpPr>
        <p:spPr>
          <a:xfrm>
            <a:off x="7688584" y="2769748"/>
            <a:ext cx="45365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000" spc="-50">
                <a:ln>
                  <a:solidFill>
                    <a:srgbClr val="66FFCC">
                      <a:alpha val="10000"/>
                    </a:srgbClr>
                  </a:solidFill>
                </a:ln>
                <a:solidFill>
                  <a:srgbClr val="66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7" panose="02020600000000000000" pitchFamily="18" charset="-127"/>
                <a:ea typeface="a고딕17" panose="02020600000000000000" pitchFamily="18" charset="-127"/>
              </a:rPr>
              <a:t>삶의 영역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4745E36-ED7C-0714-DF4E-E4D5A39FDD55}"/>
              </a:ext>
            </a:extLst>
          </p:cNvPr>
          <p:cNvGrpSpPr/>
          <p:nvPr/>
        </p:nvGrpSpPr>
        <p:grpSpPr>
          <a:xfrm>
            <a:off x="7070626" y="3091122"/>
            <a:ext cx="1689565" cy="1488771"/>
            <a:chOff x="3254419" y="3091122"/>
            <a:chExt cx="1689565" cy="148877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14CD66F-7DFC-D902-309F-80D479C2E1C4}"/>
                </a:ext>
              </a:extLst>
            </p:cNvPr>
            <p:cNvSpPr txBox="1"/>
            <p:nvPr/>
          </p:nvSpPr>
          <p:spPr>
            <a:xfrm>
              <a:off x="3254419" y="3436384"/>
              <a:ext cx="1375377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글로벌 이차전지 소재기업 전략기획 파트장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3D8EEDB-7FD6-E0AC-4065-D8A5D873F3A2}"/>
                </a:ext>
              </a:extLst>
            </p:cNvPr>
            <p:cNvSpPr txBox="1"/>
            <p:nvPr/>
          </p:nvSpPr>
          <p:spPr>
            <a:xfrm>
              <a:off x="3254419" y="3609015"/>
              <a:ext cx="896079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K-PPM 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마케</a:t>
              </a:r>
              <a:r>
                <a:rPr lang="ko-KR" altLang="en-US" sz="700" spc="-2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팅</a:t>
              </a:r>
              <a:r>
                <a:rPr lang="en-US" altLang="ko-KR" sz="700" spc="-2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·</a:t>
              </a:r>
              <a:r>
                <a:rPr lang="ko-KR" altLang="en-US" sz="700" spc="-1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브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랜딩 총괄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FFA179B-604F-17DC-3654-B541B1AD11CA}"/>
                </a:ext>
              </a:extLst>
            </p:cNvPr>
            <p:cNvSpPr txBox="1"/>
            <p:nvPr/>
          </p:nvSpPr>
          <p:spPr>
            <a:xfrm>
              <a:off x="3254419" y="3781646"/>
              <a:ext cx="1336904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광역지방자치단체 경제국 전문조사연구원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0075C4F-641E-8233-A2AC-09C9459C7C7F}"/>
                </a:ext>
              </a:extLst>
            </p:cNvPr>
            <p:cNvSpPr txBox="1"/>
            <p:nvPr/>
          </p:nvSpPr>
          <p:spPr>
            <a:xfrm>
              <a:off x="3254419" y="3954277"/>
              <a:ext cx="65883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도쿄올림픽 한국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DC2E0EE-E1AE-F1A5-70F4-E14B95E526F0}"/>
                </a:ext>
              </a:extLst>
            </p:cNvPr>
            <p:cNvSpPr txBox="1"/>
            <p:nvPr/>
          </p:nvSpPr>
          <p:spPr>
            <a:xfrm>
              <a:off x="3254419" y="4126908"/>
              <a:ext cx="105477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세계게임올림픽 서울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, 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상하이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0EF2F6-66F1-C8EB-175B-881A1EDB7736}"/>
                </a:ext>
              </a:extLst>
            </p:cNvPr>
            <p:cNvSpPr txBox="1"/>
            <p:nvPr/>
          </p:nvSpPr>
          <p:spPr>
            <a:xfrm>
              <a:off x="3254419" y="4299539"/>
              <a:ext cx="934551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한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-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아세안 문화교류 기획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8710061-0A47-54C3-8C32-8F0014298898}"/>
                </a:ext>
              </a:extLst>
            </p:cNvPr>
            <p:cNvSpPr txBox="1"/>
            <p:nvPr/>
          </p:nvSpPr>
          <p:spPr>
            <a:xfrm>
              <a:off x="3254419" y="4472171"/>
              <a:ext cx="639599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평창동계올림픽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49732C5-201E-EB58-FAA2-F993BDE7E100}"/>
                </a:ext>
              </a:extLst>
            </p:cNvPr>
            <p:cNvSpPr txBox="1"/>
            <p:nvPr/>
          </p:nvSpPr>
          <p:spPr>
            <a:xfrm>
              <a:off x="3254419" y="3091122"/>
              <a:ext cx="165750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>
                  <a:ln>
                    <a:solidFill>
                      <a:srgbClr val="66FFCC">
                        <a:alpha val="10000"/>
                      </a:srgbClr>
                    </a:solidFill>
                  </a:ln>
                  <a:solidFill>
                    <a:srgbClr val="66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Stealth Venture – Founding Team  |  CSO</a:t>
              </a:r>
              <a:endParaRPr lang="ko-KR" altLang="en-US" sz="700">
                <a:ln>
                  <a:solidFill>
                    <a:srgbClr val="66FFCC">
                      <a:alpha val="10000"/>
                    </a:srgbClr>
                  </a:solidFill>
                </a:ln>
                <a:solidFill>
                  <a:srgbClr val="66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C52D1F1-A13F-2A07-A5D4-4FE1913C7565}"/>
                </a:ext>
              </a:extLst>
            </p:cNvPr>
            <p:cNvSpPr txBox="1"/>
            <p:nvPr/>
          </p:nvSpPr>
          <p:spPr>
            <a:xfrm>
              <a:off x="3254419" y="3263753"/>
              <a:ext cx="168956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>
                  <a:ln>
                    <a:solidFill>
                      <a:srgbClr val="66FFCC">
                        <a:alpha val="10000"/>
                      </a:srgbClr>
                    </a:solidFill>
                  </a:ln>
                  <a:solidFill>
                    <a:srgbClr val="66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Principal  |  Strategy &amp; Execution Advisor</a:t>
              </a:r>
              <a:endParaRPr lang="ko-KR" altLang="en-US" sz="700">
                <a:ln>
                  <a:solidFill>
                    <a:srgbClr val="66FFCC">
                      <a:alpha val="10000"/>
                    </a:srgbClr>
                  </a:solidFill>
                </a:ln>
                <a:solidFill>
                  <a:srgbClr val="66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</p:grp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70692ED8-F041-D974-7C09-1D28CB3CD0D6}"/>
              </a:ext>
            </a:extLst>
          </p:cNvPr>
          <p:cNvCxnSpPr/>
          <p:nvPr/>
        </p:nvCxnSpPr>
        <p:spPr>
          <a:xfrm>
            <a:off x="4289292" y="-406400"/>
            <a:ext cx="0" cy="8928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74550B0-A371-1112-5B3B-1BE0726F65B0}"/>
              </a:ext>
            </a:extLst>
          </p:cNvPr>
          <p:cNvSpPr/>
          <p:nvPr/>
        </p:nvSpPr>
        <p:spPr>
          <a:xfrm>
            <a:off x="1574800" y="1106048"/>
            <a:ext cx="4762500" cy="3213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100"/>
              <a:t>최영렬 왼쪽의 최 시작라인과 커리어 여정 가운데가 맞도록 배열 조정</a:t>
            </a:r>
          </a:p>
        </p:txBody>
      </p:sp>
    </p:spTree>
    <p:extLst>
      <p:ext uri="{BB962C8B-B14F-4D97-AF65-F5344CB8AC3E}">
        <p14:creationId xmlns:p14="http://schemas.microsoft.com/office/powerpoint/2010/main" val="910277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E2C341-452E-5EB4-6F1B-D34E77FD2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7AE87D6-7C75-8E69-99EB-F50EFB1BC8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0" r="67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080ECFE-FC64-B719-8EA6-F644364E4BA4}"/>
              </a:ext>
            </a:extLst>
          </p:cNvPr>
          <p:cNvSpPr/>
          <p:nvPr/>
        </p:nvSpPr>
        <p:spPr>
          <a:xfrm>
            <a:off x="0" y="2600529"/>
            <a:ext cx="12192000" cy="213149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8E9343F-6A94-53CA-8807-375C1869019E}"/>
              </a:ext>
            </a:extLst>
          </p:cNvPr>
          <p:cNvGrpSpPr/>
          <p:nvPr/>
        </p:nvGrpSpPr>
        <p:grpSpPr>
          <a:xfrm>
            <a:off x="3431810" y="2769748"/>
            <a:ext cx="1689565" cy="1810145"/>
            <a:chOff x="3079369" y="2769748"/>
            <a:chExt cx="1689565" cy="181014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45EB8F-9621-201E-73FE-5851995E59E7}"/>
                </a:ext>
              </a:extLst>
            </p:cNvPr>
            <p:cNvSpPr txBox="1"/>
            <p:nvPr/>
          </p:nvSpPr>
          <p:spPr>
            <a:xfrm>
              <a:off x="3644427" y="2769748"/>
              <a:ext cx="55944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000" spc="-50">
                  <a:ln>
                    <a:solidFill>
                      <a:srgbClr val="66FFCC">
                        <a:alpha val="10000"/>
                      </a:srgbClr>
                    </a:solidFill>
                  </a:ln>
                  <a:solidFill>
                    <a:srgbClr val="66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7" panose="02020600000000000000" pitchFamily="18" charset="-127"/>
                  <a:ea typeface="a고딕17" panose="02020600000000000000" pitchFamily="18" charset="-127"/>
                </a:rPr>
                <a:t>커리어 여정</a:t>
              </a: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0B3056FD-B54A-60E2-CAE5-104BAF994675}"/>
                </a:ext>
              </a:extLst>
            </p:cNvPr>
            <p:cNvGrpSpPr/>
            <p:nvPr/>
          </p:nvGrpSpPr>
          <p:grpSpPr>
            <a:xfrm>
              <a:off x="3079369" y="3091122"/>
              <a:ext cx="1689565" cy="1488771"/>
              <a:chOff x="3254419" y="3091122"/>
              <a:chExt cx="1689565" cy="148877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C5A341-FADD-DDA8-0179-7DA7AF0516C3}"/>
                  </a:ext>
                </a:extLst>
              </p:cNvPr>
              <p:cNvSpPr txBox="1"/>
              <p:nvPr/>
            </p:nvSpPr>
            <p:spPr>
              <a:xfrm>
                <a:off x="3254419" y="3436384"/>
                <a:ext cx="1375377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글로벌 이차전지 소재기업 전략기획 파트장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BA0203-90A3-F2CE-8951-CDECE61D3F89}"/>
                  </a:ext>
                </a:extLst>
              </p:cNvPr>
              <p:cNvSpPr txBox="1"/>
              <p:nvPr/>
            </p:nvSpPr>
            <p:spPr>
              <a:xfrm>
                <a:off x="3254419" y="3609015"/>
                <a:ext cx="896079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K-PPM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마케</a:t>
                </a:r>
                <a:r>
                  <a:rPr lang="ko-KR" altLang="en-US" sz="700" spc="-2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팅</a:t>
                </a:r>
                <a:r>
                  <a:rPr lang="en-US" altLang="ko-KR" sz="700" spc="-2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·</a:t>
                </a:r>
                <a:r>
                  <a:rPr lang="ko-KR" altLang="en-US" sz="700" spc="-10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브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랜딩 총괄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58AF8AB-1789-BD70-DF62-7030FC3F3B89}"/>
                  </a:ext>
                </a:extLst>
              </p:cNvPr>
              <p:cNvSpPr txBox="1"/>
              <p:nvPr/>
            </p:nvSpPr>
            <p:spPr>
              <a:xfrm>
                <a:off x="3254419" y="3781646"/>
                <a:ext cx="1336904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광역지방자치단체 경제국 전문조사연구원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84967D1-4746-B003-15F4-8B997514A7BB}"/>
                  </a:ext>
                </a:extLst>
              </p:cNvPr>
              <p:cNvSpPr txBox="1"/>
              <p:nvPr/>
            </p:nvSpPr>
            <p:spPr>
              <a:xfrm>
                <a:off x="3254419" y="3954277"/>
                <a:ext cx="658835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도쿄올림픽 한국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CC0FD5C-43A1-B98F-0F2E-26C20FA0A2BD}"/>
                  </a:ext>
                </a:extLst>
              </p:cNvPr>
              <p:cNvSpPr txBox="1"/>
              <p:nvPr/>
            </p:nvSpPr>
            <p:spPr>
              <a:xfrm>
                <a:off x="3254419" y="4126908"/>
                <a:ext cx="1054776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세계게임올림픽 서울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, 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상하이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B51334A-2EA5-FEAA-E4D2-9B1A8BD52546}"/>
                  </a:ext>
                </a:extLst>
              </p:cNvPr>
              <p:cNvSpPr txBox="1"/>
              <p:nvPr/>
            </p:nvSpPr>
            <p:spPr>
              <a:xfrm>
                <a:off x="3254419" y="4299539"/>
                <a:ext cx="934551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한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-</a:t>
                </a:r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아세안 문화교류 기획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EF055FE-8249-5BD6-3C0D-28B6569FE789}"/>
                  </a:ext>
                </a:extLst>
              </p:cNvPr>
              <p:cNvSpPr txBox="1"/>
              <p:nvPr/>
            </p:nvSpPr>
            <p:spPr>
              <a:xfrm>
                <a:off x="3254419" y="4472171"/>
                <a:ext cx="639599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평창동계올림픽 </a:t>
                </a:r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PM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E709CC5-D19F-0B27-3893-06FFCC7FE4FC}"/>
                  </a:ext>
                </a:extLst>
              </p:cNvPr>
              <p:cNvSpPr txBox="1"/>
              <p:nvPr/>
            </p:nvSpPr>
            <p:spPr>
              <a:xfrm>
                <a:off x="3254419" y="3091122"/>
                <a:ext cx="1657505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Stealth Venture – Founding Team  |  CSO</a:t>
                </a:r>
                <a:endParaRPr lang="ko-KR" altLang="en-US" sz="700">
                  <a:ln>
                    <a:solidFill>
                      <a:srgbClr val="66FFCC">
                        <a:alpha val="10000"/>
                      </a:srgbClr>
                    </a:solidFill>
                  </a:ln>
                  <a:solidFill>
                    <a:srgbClr val="66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7BFD5D5-EB65-C56C-D77C-FEB0AD877A80}"/>
                  </a:ext>
                </a:extLst>
              </p:cNvPr>
              <p:cNvSpPr txBox="1"/>
              <p:nvPr/>
            </p:nvSpPr>
            <p:spPr>
              <a:xfrm>
                <a:off x="3254419" y="3263753"/>
                <a:ext cx="1689565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700">
                    <a:ln>
                      <a:solidFill>
                        <a:srgbClr val="66FFCC">
                          <a:alpha val="10000"/>
                        </a:srgbClr>
                      </a:solidFill>
                    </a:ln>
                    <a:solidFill>
                      <a:srgbClr val="66FFC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고딕13" panose="02020600000000000000" pitchFamily="18" charset="-127"/>
                    <a:ea typeface="a고딕13" panose="02020600000000000000" pitchFamily="18" charset="-127"/>
                  </a:rPr>
                  <a:t>Principal  |  Strategy &amp; Execution Advisor</a:t>
                </a:r>
                <a:endParaRPr lang="ko-KR" altLang="en-US" sz="700">
                  <a:ln>
                    <a:solidFill>
                      <a:srgbClr val="66FFCC">
                        <a:alpha val="10000"/>
                      </a:srgbClr>
                    </a:solidFill>
                  </a:ln>
                  <a:solidFill>
                    <a:srgbClr val="66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C5DAFCA-A63F-76C1-2C5F-CC42FA975169}"/>
              </a:ext>
            </a:extLst>
          </p:cNvPr>
          <p:cNvSpPr txBox="1"/>
          <p:nvPr/>
        </p:nvSpPr>
        <p:spPr>
          <a:xfrm>
            <a:off x="7688584" y="2769748"/>
            <a:ext cx="453650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000" spc="-50">
                <a:ln>
                  <a:solidFill>
                    <a:srgbClr val="66FFCC">
                      <a:alpha val="10000"/>
                    </a:srgbClr>
                  </a:solidFill>
                </a:ln>
                <a:solidFill>
                  <a:srgbClr val="66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7" panose="02020600000000000000" pitchFamily="18" charset="-127"/>
                <a:ea typeface="a고딕17" panose="02020600000000000000" pitchFamily="18" charset="-127"/>
              </a:rPr>
              <a:t>삶의 영역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557FB75-800F-E768-B971-EF31E8808B30}"/>
              </a:ext>
            </a:extLst>
          </p:cNvPr>
          <p:cNvGrpSpPr/>
          <p:nvPr/>
        </p:nvGrpSpPr>
        <p:grpSpPr>
          <a:xfrm>
            <a:off x="7070626" y="3091122"/>
            <a:ext cx="1689565" cy="1488771"/>
            <a:chOff x="3254419" y="3091122"/>
            <a:chExt cx="1689565" cy="148877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23F79A0-F085-4BD2-C40B-8A2FE0B263A3}"/>
                </a:ext>
              </a:extLst>
            </p:cNvPr>
            <p:cNvSpPr txBox="1"/>
            <p:nvPr/>
          </p:nvSpPr>
          <p:spPr>
            <a:xfrm>
              <a:off x="3254419" y="3436384"/>
              <a:ext cx="1375377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글로벌 이차전지 소재기업 전략기획 파트장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6E3750C-DCB7-E1F8-3375-FDE8E273A577}"/>
                </a:ext>
              </a:extLst>
            </p:cNvPr>
            <p:cNvSpPr txBox="1"/>
            <p:nvPr/>
          </p:nvSpPr>
          <p:spPr>
            <a:xfrm>
              <a:off x="3254419" y="3609015"/>
              <a:ext cx="896079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K-PPM 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마케</a:t>
              </a:r>
              <a:r>
                <a:rPr lang="ko-KR" altLang="en-US" sz="700" spc="-2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팅</a:t>
              </a:r>
              <a:r>
                <a:rPr lang="en-US" altLang="ko-KR" sz="700" spc="-2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·</a:t>
              </a:r>
              <a:r>
                <a:rPr lang="ko-KR" altLang="en-US" sz="700" spc="-1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브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랜딩 총괄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5AFD615-3D66-A849-8896-834621AD5BF2}"/>
                </a:ext>
              </a:extLst>
            </p:cNvPr>
            <p:cNvSpPr txBox="1"/>
            <p:nvPr/>
          </p:nvSpPr>
          <p:spPr>
            <a:xfrm>
              <a:off x="3254419" y="3781646"/>
              <a:ext cx="1336904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광역지방자치단체 경제국 전문조사연구원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9EBF461-B44B-C4D4-635A-B7D0EDA8C21A}"/>
                </a:ext>
              </a:extLst>
            </p:cNvPr>
            <p:cNvSpPr txBox="1"/>
            <p:nvPr/>
          </p:nvSpPr>
          <p:spPr>
            <a:xfrm>
              <a:off x="3254419" y="3954277"/>
              <a:ext cx="65883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도쿄올림픽 한국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11DA925-4DC2-A987-2716-B7B735BA426C}"/>
                </a:ext>
              </a:extLst>
            </p:cNvPr>
            <p:cNvSpPr txBox="1"/>
            <p:nvPr/>
          </p:nvSpPr>
          <p:spPr>
            <a:xfrm>
              <a:off x="3254419" y="4126908"/>
              <a:ext cx="105477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세계게임올림픽 서울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, 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상하이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50B115B-5371-E5F2-85E8-13B460B97E3F}"/>
                </a:ext>
              </a:extLst>
            </p:cNvPr>
            <p:cNvSpPr txBox="1"/>
            <p:nvPr/>
          </p:nvSpPr>
          <p:spPr>
            <a:xfrm>
              <a:off x="3254419" y="4299539"/>
              <a:ext cx="934551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한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-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아세안 문화교류 기획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1FF2A83-B73F-8D4B-711D-D605F5BBF858}"/>
                </a:ext>
              </a:extLst>
            </p:cNvPr>
            <p:cNvSpPr txBox="1"/>
            <p:nvPr/>
          </p:nvSpPr>
          <p:spPr>
            <a:xfrm>
              <a:off x="3254419" y="4472171"/>
              <a:ext cx="639599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평창동계올림픽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117A03C-AB63-9CFC-FCA1-483CCB3B933C}"/>
                </a:ext>
              </a:extLst>
            </p:cNvPr>
            <p:cNvSpPr txBox="1"/>
            <p:nvPr/>
          </p:nvSpPr>
          <p:spPr>
            <a:xfrm>
              <a:off x="3254419" y="3091122"/>
              <a:ext cx="165750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>
                  <a:ln>
                    <a:solidFill>
                      <a:srgbClr val="66FFCC">
                        <a:alpha val="10000"/>
                      </a:srgbClr>
                    </a:solidFill>
                  </a:ln>
                  <a:solidFill>
                    <a:srgbClr val="66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Stealth Venture – Founding Team  |  CSO</a:t>
              </a:r>
              <a:endParaRPr lang="ko-KR" altLang="en-US" sz="700">
                <a:ln>
                  <a:solidFill>
                    <a:srgbClr val="66FFCC">
                      <a:alpha val="10000"/>
                    </a:srgbClr>
                  </a:solidFill>
                </a:ln>
                <a:solidFill>
                  <a:srgbClr val="66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8369DCC-573B-FCAA-D251-7B59D9195453}"/>
                </a:ext>
              </a:extLst>
            </p:cNvPr>
            <p:cNvSpPr txBox="1"/>
            <p:nvPr/>
          </p:nvSpPr>
          <p:spPr>
            <a:xfrm>
              <a:off x="3254419" y="3263753"/>
              <a:ext cx="168956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>
                  <a:ln>
                    <a:solidFill>
                      <a:srgbClr val="66FFCC">
                        <a:alpha val="10000"/>
                      </a:srgbClr>
                    </a:solidFill>
                  </a:ln>
                  <a:solidFill>
                    <a:srgbClr val="66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Principal  |  Strategy &amp; Execution Advisor</a:t>
              </a:r>
              <a:endParaRPr lang="ko-KR" altLang="en-US" sz="700">
                <a:ln>
                  <a:solidFill>
                    <a:srgbClr val="66FFCC">
                      <a:alpha val="10000"/>
                    </a:srgbClr>
                  </a:solidFill>
                </a:ln>
                <a:solidFill>
                  <a:srgbClr val="66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</p:grp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FA788903-1390-CEEB-FF86-FC3F7D72A7BC}"/>
              </a:ext>
            </a:extLst>
          </p:cNvPr>
          <p:cNvCxnSpPr/>
          <p:nvPr/>
        </p:nvCxnSpPr>
        <p:spPr>
          <a:xfrm>
            <a:off x="4289292" y="-406400"/>
            <a:ext cx="0" cy="8928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6ADC23D-5056-4DED-3607-57C1609A08EC}"/>
              </a:ext>
            </a:extLst>
          </p:cNvPr>
          <p:cNvSpPr/>
          <p:nvPr/>
        </p:nvSpPr>
        <p:spPr>
          <a:xfrm>
            <a:off x="1574800" y="1106048"/>
            <a:ext cx="4762500" cy="4814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1100"/>
              <a:t>최영렬 왼쪽의 최 시작라인과 커리어 여정 가운데가 맞도록 배열 조정</a:t>
            </a:r>
          </a:p>
        </p:txBody>
      </p:sp>
    </p:spTree>
    <p:extLst>
      <p:ext uri="{BB962C8B-B14F-4D97-AF65-F5344CB8AC3E}">
        <p14:creationId xmlns:p14="http://schemas.microsoft.com/office/powerpoint/2010/main" val="3879315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8C85D-6A44-DC52-CFDE-4DBF8735E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B0BCB87-5760-79E8-A309-EEFCD4D498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0" r="67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56BCA06-8750-6E86-27C6-135FD5582A9A}"/>
              </a:ext>
            </a:extLst>
          </p:cNvPr>
          <p:cNvSpPr/>
          <p:nvPr/>
        </p:nvSpPr>
        <p:spPr>
          <a:xfrm>
            <a:off x="0" y="2600529"/>
            <a:ext cx="12192000" cy="213149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이등변 삼각형 2">
            <a:extLst>
              <a:ext uri="{FF2B5EF4-FFF2-40B4-BE49-F238E27FC236}">
                <a16:creationId xmlns:a16="http://schemas.microsoft.com/office/drawing/2014/main" id="{91BEC922-25E5-39C6-A814-8EB178D7C665}"/>
              </a:ext>
            </a:extLst>
          </p:cNvPr>
          <p:cNvSpPr/>
          <p:nvPr/>
        </p:nvSpPr>
        <p:spPr>
          <a:xfrm>
            <a:off x="2378924" y="2926992"/>
            <a:ext cx="2821150" cy="1805028"/>
          </a:xfrm>
          <a:prstGeom prst="triangle">
            <a:avLst/>
          </a:prstGeom>
          <a:gradFill flip="none" rotWithShape="1">
            <a:gsLst>
              <a:gs pos="100000">
                <a:schemeClr val="tx1">
                  <a:alpha val="0"/>
                </a:schemeClr>
              </a:gs>
              <a:gs pos="0">
                <a:srgbClr val="66FFCC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CBB783-62A5-3CB4-F035-D083DF1B3467}"/>
              </a:ext>
            </a:extLst>
          </p:cNvPr>
          <p:cNvSpPr txBox="1"/>
          <p:nvPr/>
        </p:nvSpPr>
        <p:spPr>
          <a:xfrm>
            <a:off x="3509775" y="2769748"/>
            <a:ext cx="559449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o-KR" altLang="en-US" sz="1000" spc="-50">
                <a:ln>
                  <a:solidFill>
                    <a:srgbClr val="66FFCC">
                      <a:alpha val="10000"/>
                    </a:srgbClr>
                  </a:solidFill>
                </a:ln>
                <a:solidFill>
                  <a:srgbClr val="66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7" panose="02020600000000000000" pitchFamily="18" charset="-127"/>
                <a:ea typeface="a고딕17" panose="02020600000000000000" pitchFamily="18" charset="-127"/>
              </a:rPr>
              <a:t>커리어 여정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77F4680-65CA-3A7E-6412-7A8C2D79803E}"/>
              </a:ext>
            </a:extLst>
          </p:cNvPr>
          <p:cNvGrpSpPr/>
          <p:nvPr/>
        </p:nvGrpSpPr>
        <p:grpSpPr>
          <a:xfrm>
            <a:off x="3079369" y="3091122"/>
            <a:ext cx="1689565" cy="1488771"/>
            <a:chOff x="3254419" y="3091122"/>
            <a:chExt cx="1689565" cy="148877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AB40E6-A584-5D74-3918-DBD3F32E28BB}"/>
                </a:ext>
              </a:extLst>
            </p:cNvPr>
            <p:cNvSpPr txBox="1"/>
            <p:nvPr/>
          </p:nvSpPr>
          <p:spPr>
            <a:xfrm>
              <a:off x="3254419" y="3436384"/>
              <a:ext cx="1303242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글로벌 이차전지 소재사 전략기획 파트장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38C48F3-D953-4334-3B6C-5605B925E9CA}"/>
                </a:ext>
              </a:extLst>
            </p:cNvPr>
            <p:cNvSpPr txBox="1"/>
            <p:nvPr/>
          </p:nvSpPr>
          <p:spPr>
            <a:xfrm>
              <a:off x="3254419" y="3609015"/>
              <a:ext cx="896079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K-PPM 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마케</a:t>
              </a:r>
              <a:r>
                <a:rPr lang="ko-KR" altLang="en-US" sz="700" spc="-2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팅</a:t>
              </a:r>
              <a:r>
                <a:rPr lang="en-US" altLang="ko-KR" sz="700" spc="-2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·</a:t>
              </a:r>
              <a:r>
                <a:rPr lang="ko-KR" altLang="en-US" sz="700" spc="-1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브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랜딩 총괄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E8D1A51-2B70-EA36-995C-D97D7EABC044}"/>
                </a:ext>
              </a:extLst>
            </p:cNvPr>
            <p:cNvSpPr txBox="1"/>
            <p:nvPr/>
          </p:nvSpPr>
          <p:spPr>
            <a:xfrm>
              <a:off x="3254419" y="3781646"/>
              <a:ext cx="1336904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광역지방자치단체 경제국 전문조사연구원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422B1FE-508B-EA48-7D5B-0E30CBCB66A0}"/>
                </a:ext>
              </a:extLst>
            </p:cNvPr>
            <p:cNvSpPr txBox="1"/>
            <p:nvPr/>
          </p:nvSpPr>
          <p:spPr>
            <a:xfrm>
              <a:off x="3254419" y="3954277"/>
              <a:ext cx="65883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도쿄올림픽 한국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glow rad="127000">
                    <a:schemeClr val="tx1">
                      <a:alpha val="5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D9AB7A6-F6E5-1C2F-80B1-3DEFC316A464}"/>
                </a:ext>
              </a:extLst>
            </p:cNvPr>
            <p:cNvSpPr txBox="1"/>
            <p:nvPr/>
          </p:nvSpPr>
          <p:spPr>
            <a:xfrm>
              <a:off x="3254419" y="4126908"/>
              <a:ext cx="105477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세계게임올림픽 서울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, 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상하이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glow rad="127000">
                    <a:schemeClr val="tx1">
                      <a:alpha val="5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EE54090-CEE6-DCE0-E7FE-6AF1521A8B5B}"/>
                </a:ext>
              </a:extLst>
            </p:cNvPr>
            <p:cNvSpPr txBox="1"/>
            <p:nvPr/>
          </p:nvSpPr>
          <p:spPr>
            <a:xfrm>
              <a:off x="3254419" y="4299539"/>
              <a:ext cx="934551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한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-</a:t>
              </a:r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아세안 문화교류 기획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glow rad="127000">
                    <a:schemeClr val="tx1">
                      <a:alpha val="5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5C5230B-B169-2B8B-4450-D448664ACB90}"/>
                </a:ext>
              </a:extLst>
            </p:cNvPr>
            <p:cNvSpPr txBox="1"/>
            <p:nvPr/>
          </p:nvSpPr>
          <p:spPr>
            <a:xfrm>
              <a:off x="3254419" y="4472171"/>
              <a:ext cx="639599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평창동계올림픽 </a:t>
              </a:r>
              <a:r>
                <a:rPr lang="en-US" altLang="ko-KR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PM</a:t>
              </a:r>
              <a:endParaRPr lang="ko-KR" altLang="en-US" sz="700" spc="-5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glow rad="127000">
                    <a:schemeClr val="tx1">
                      <a:alpha val="5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2EA2C96-50B4-4AC2-A630-1BD5CA7E9BA5}"/>
                </a:ext>
              </a:extLst>
            </p:cNvPr>
            <p:cNvSpPr txBox="1"/>
            <p:nvPr/>
          </p:nvSpPr>
          <p:spPr>
            <a:xfrm>
              <a:off x="3254419" y="3091122"/>
              <a:ext cx="165750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Stealth Venture – Founding Team  |  CSO</a:t>
              </a:r>
              <a:endParaRPr lang="ko-KR" altLang="en-US" sz="70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glow rad="127000">
                    <a:schemeClr val="tx1">
                      <a:alpha val="5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B378326-5E6F-3D17-1B87-2EA36E80B4F7}"/>
                </a:ext>
              </a:extLst>
            </p:cNvPr>
            <p:cNvSpPr txBox="1"/>
            <p:nvPr/>
          </p:nvSpPr>
          <p:spPr>
            <a:xfrm>
              <a:off x="3254419" y="3263753"/>
              <a:ext cx="1689565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70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effectLst>
                    <a:glow rad="127000">
                      <a:schemeClr val="tx1">
                        <a:alpha val="5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3" panose="02020600000000000000" pitchFamily="18" charset="-127"/>
                  <a:ea typeface="a고딕13" panose="02020600000000000000" pitchFamily="18" charset="-127"/>
                </a:rPr>
                <a:t>Principal  |  Strategy &amp; Execution Advisor</a:t>
              </a:r>
              <a:endParaRPr lang="ko-KR" altLang="en-US" sz="70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effectLst>
                  <a:glow rad="127000">
                    <a:schemeClr val="tx1">
                      <a:alpha val="5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</p:grpSp>
      <p:pic>
        <p:nvPicPr>
          <p:cNvPr id="6" name="그래픽 5">
            <a:extLst>
              <a:ext uri="{FF2B5EF4-FFF2-40B4-BE49-F238E27FC236}">
                <a16:creationId xmlns:a16="http://schemas.microsoft.com/office/drawing/2014/main" id="{689E3DFA-6D30-5C95-11A8-C5E193654C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7882" y="3928394"/>
            <a:ext cx="818118" cy="3970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9162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9F568-A9AE-5DF2-2733-7C2BB8B45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90855-0B23-29D5-7994-B1A4DCFF3B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0" r="67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EBDA247-0ADD-D872-B778-1C28EE0FBD72}"/>
              </a:ext>
            </a:extLst>
          </p:cNvPr>
          <p:cNvSpPr/>
          <p:nvPr/>
        </p:nvSpPr>
        <p:spPr>
          <a:xfrm>
            <a:off x="0" y="2600529"/>
            <a:ext cx="12192000" cy="213149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96A0E4AE-2957-CD85-8A7E-36674EB28AE5}"/>
              </a:ext>
            </a:extLst>
          </p:cNvPr>
          <p:cNvGrpSpPr/>
          <p:nvPr/>
        </p:nvGrpSpPr>
        <p:grpSpPr>
          <a:xfrm>
            <a:off x="2904319" y="2769748"/>
            <a:ext cx="1770361" cy="1810145"/>
            <a:chOff x="2926473" y="2680165"/>
            <a:chExt cx="1770361" cy="181014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DB05D3F-9FAB-4183-BB06-667BE5FAB87A}"/>
                </a:ext>
              </a:extLst>
            </p:cNvPr>
            <p:cNvSpPr txBox="1"/>
            <p:nvPr/>
          </p:nvSpPr>
          <p:spPr>
            <a:xfrm>
              <a:off x="3531929" y="2680165"/>
              <a:ext cx="55944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000" spc="-50">
                  <a:ln>
                    <a:solidFill>
                      <a:srgbClr val="66FFCC">
                        <a:alpha val="10000"/>
                      </a:srgbClr>
                    </a:solidFill>
                  </a:ln>
                  <a:solidFill>
                    <a:srgbClr val="66FF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고딕17" panose="02020600000000000000" pitchFamily="18" charset="-127"/>
                  <a:ea typeface="a고딕17" panose="02020600000000000000" pitchFamily="18" charset="-127"/>
                </a:rPr>
                <a:t>커리어 여정</a:t>
              </a:r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77DA5EFF-4063-E9EE-06C7-E2D4249C6A05}"/>
                </a:ext>
              </a:extLst>
            </p:cNvPr>
            <p:cNvGrpSpPr/>
            <p:nvPr/>
          </p:nvGrpSpPr>
          <p:grpSpPr>
            <a:xfrm>
              <a:off x="2926473" y="3001539"/>
              <a:ext cx="1770361" cy="1488771"/>
              <a:chOff x="2926473" y="2899940"/>
              <a:chExt cx="1770361" cy="1488771"/>
            </a:xfrm>
          </p:grpSpPr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25407A46-4223-09D6-18B5-16A658B5C315}"/>
                  </a:ext>
                </a:extLst>
              </p:cNvPr>
              <p:cNvGrpSpPr/>
              <p:nvPr/>
            </p:nvGrpSpPr>
            <p:grpSpPr>
              <a:xfrm>
                <a:off x="2926473" y="3245202"/>
                <a:ext cx="1653342" cy="107722"/>
                <a:chOff x="2926473" y="3119849"/>
                <a:chExt cx="1653342" cy="107722"/>
              </a:xfrm>
            </p:grpSpPr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709BB64A-315B-0872-489C-30E0C042F537}"/>
                    </a:ext>
                  </a:extLst>
                </p:cNvPr>
                <p:cNvSpPr txBox="1"/>
                <p:nvPr/>
              </p:nvSpPr>
              <p:spPr>
                <a:xfrm>
                  <a:off x="2926473" y="3119849"/>
                  <a:ext cx="173124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2025</a:t>
                  </a:r>
                  <a:endPara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latin typeface="a고딕13" panose="02020600000000000000" pitchFamily="18" charset="-127"/>
                    <a:ea typeface="a고딕13" panose="02020600000000000000" pitchFamily="18" charset="-127"/>
                  </a:endParaRP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3948E54-D9A9-A9D9-B7EA-347D5AB9F20E}"/>
                    </a:ext>
                  </a:extLst>
                </p:cNvPr>
                <p:cNvSpPr txBox="1"/>
                <p:nvPr/>
              </p:nvSpPr>
              <p:spPr>
                <a:xfrm>
                  <a:off x="3276573" y="3119849"/>
                  <a:ext cx="1303242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ko-KR" altLang="en-US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글로벌 이차전지 소재사 전략기획 파트장</a:t>
                  </a:r>
                </a:p>
              </p:txBody>
            </p:sp>
          </p:grp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3139EA58-7A01-1CD8-0D89-4DC3E93FEC3E}"/>
                  </a:ext>
                </a:extLst>
              </p:cNvPr>
              <p:cNvGrpSpPr/>
              <p:nvPr/>
            </p:nvGrpSpPr>
            <p:grpSpPr>
              <a:xfrm>
                <a:off x="2926473" y="3417833"/>
                <a:ext cx="1246179" cy="107722"/>
                <a:chOff x="2926473" y="3325585"/>
                <a:chExt cx="1246179" cy="107722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6254B67-665C-FA19-E2B3-8E459F0FCF3C}"/>
                    </a:ext>
                  </a:extLst>
                </p:cNvPr>
                <p:cNvSpPr txBox="1"/>
                <p:nvPr/>
              </p:nvSpPr>
              <p:spPr>
                <a:xfrm>
                  <a:off x="2926473" y="3325585"/>
                  <a:ext cx="173124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2022</a:t>
                  </a:r>
                  <a:endPara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latin typeface="a고딕13" panose="02020600000000000000" pitchFamily="18" charset="-127"/>
                    <a:ea typeface="a고딕13" panose="02020600000000000000" pitchFamily="18" charset="-127"/>
                  </a:endParaRP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6029D7B-DBB1-0ADD-3726-5727B9BBF2A2}"/>
                    </a:ext>
                  </a:extLst>
                </p:cNvPr>
                <p:cNvSpPr txBox="1"/>
                <p:nvPr/>
              </p:nvSpPr>
              <p:spPr>
                <a:xfrm>
                  <a:off x="3276573" y="3325585"/>
                  <a:ext cx="896079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K-PPM </a:t>
                  </a:r>
                  <a:r>
                    <a:rPr lang="ko-KR" altLang="en-US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마케</a:t>
                  </a:r>
                  <a:r>
                    <a:rPr lang="ko-KR" altLang="en-US" sz="700" spc="-20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팅</a:t>
                  </a:r>
                  <a:r>
                    <a:rPr lang="en-US" altLang="ko-KR" sz="700" spc="-20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·</a:t>
                  </a:r>
                  <a:r>
                    <a:rPr lang="ko-KR" altLang="en-US" sz="700" spc="-10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브</a:t>
                  </a:r>
                  <a:r>
                    <a:rPr lang="ko-KR" altLang="en-US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랜딩 총괄</a:t>
                  </a:r>
                </a:p>
              </p:txBody>
            </p:sp>
          </p:grp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7B7F2936-5E12-2AA6-7EF1-091B22F3E1C3}"/>
                  </a:ext>
                </a:extLst>
              </p:cNvPr>
              <p:cNvGrpSpPr/>
              <p:nvPr/>
            </p:nvGrpSpPr>
            <p:grpSpPr>
              <a:xfrm>
                <a:off x="2926473" y="3590464"/>
                <a:ext cx="1687004" cy="107722"/>
                <a:chOff x="2926473" y="3531321"/>
                <a:chExt cx="1687004" cy="107722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92921E1-5F61-96D4-D999-9FA4BABF2AB2}"/>
                    </a:ext>
                  </a:extLst>
                </p:cNvPr>
                <p:cNvSpPr txBox="1"/>
                <p:nvPr/>
              </p:nvSpPr>
              <p:spPr>
                <a:xfrm>
                  <a:off x="2926473" y="3531321"/>
                  <a:ext cx="173124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2021</a:t>
                  </a:r>
                  <a:endPara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latin typeface="a고딕13" panose="02020600000000000000" pitchFamily="18" charset="-127"/>
                    <a:ea typeface="a고딕13" panose="02020600000000000000" pitchFamily="18" charset="-127"/>
                  </a:endParaRP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38ED17D-2844-EDAA-9744-259B5FD0DC27}"/>
                    </a:ext>
                  </a:extLst>
                </p:cNvPr>
                <p:cNvSpPr txBox="1"/>
                <p:nvPr/>
              </p:nvSpPr>
              <p:spPr>
                <a:xfrm>
                  <a:off x="3276573" y="3531321"/>
                  <a:ext cx="1336904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ko-KR" altLang="en-US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광역지방자치단체 경제국 전문조사연구원</a:t>
                  </a:r>
                </a:p>
              </p:txBody>
            </p:sp>
          </p:grp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5DBDA555-C26B-EC41-8EC5-6C5162B10119}"/>
                  </a:ext>
                </a:extLst>
              </p:cNvPr>
              <p:cNvGrpSpPr/>
              <p:nvPr/>
            </p:nvGrpSpPr>
            <p:grpSpPr>
              <a:xfrm>
                <a:off x="2926473" y="3763095"/>
                <a:ext cx="1008935" cy="107722"/>
                <a:chOff x="2926473" y="3119849"/>
                <a:chExt cx="1008935" cy="107722"/>
              </a:xfrm>
            </p:grpSpPr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C5D368B-B1A1-97D4-4614-7627FA3042CF}"/>
                    </a:ext>
                  </a:extLst>
                </p:cNvPr>
                <p:cNvSpPr txBox="1"/>
                <p:nvPr/>
              </p:nvSpPr>
              <p:spPr>
                <a:xfrm>
                  <a:off x="2926473" y="3119849"/>
                  <a:ext cx="173124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2020</a:t>
                  </a:r>
                  <a:endPara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latin typeface="a고딕13" panose="02020600000000000000" pitchFamily="18" charset="-127"/>
                    <a:ea typeface="a고딕13" panose="02020600000000000000" pitchFamily="18" charset="-127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0E40AFD-D147-4DBF-C6A7-9D44B9040C7D}"/>
                    </a:ext>
                  </a:extLst>
                </p:cNvPr>
                <p:cNvSpPr txBox="1"/>
                <p:nvPr/>
              </p:nvSpPr>
              <p:spPr>
                <a:xfrm>
                  <a:off x="3276573" y="3119849"/>
                  <a:ext cx="658835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ko-KR" altLang="en-US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도쿄올림픽 한국 </a:t>
                  </a:r>
                  <a:r>
                    <a:rPr lang="en-US" altLang="ko-KR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PM</a:t>
                  </a:r>
                  <a:endPara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latin typeface="a고딕13" panose="02020600000000000000" pitchFamily="18" charset="-127"/>
                    <a:ea typeface="a고딕13" panose="02020600000000000000" pitchFamily="18" charset="-127"/>
                  </a:endParaRPr>
                </a:p>
              </p:txBody>
            </p:sp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23EF22B3-CCCA-754A-D3AA-473DCFF97971}"/>
                  </a:ext>
                </a:extLst>
              </p:cNvPr>
              <p:cNvGrpSpPr/>
              <p:nvPr/>
            </p:nvGrpSpPr>
            <p:grpSpPr>
              <a:xfrm>
                <a:off x="2926473" y="3935726"/>
                <a:ext cx="1404876" cy="107722"/>
                <a:chOff x="2926473" y="3119849"/>
                <a:chExt cx="1404876" cy="107722"/>
              </a:xfrm>
            </p:grpSpPr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FDE355F-2C54-6116-BF7C-9FC8253A162B}"/>
                    </a:ext>
                  </a:extLst>
                </p:cNvPr>
                <p:cNvSpPr txBox="1"/>
                <p:nvPr/>
              </p:nvSpPr>
              <p:spPr>
                <a:xfrm>
                  <a:off x="2926473" y="3119849"/>
                  <a:ext cx="65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endPara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latin typeface="a고딕13" panose="02020600000000000000" pitchFamily="18" charset="-127"/>
                    <a:ea typeface="a고딕13" panose="02020600000000000000" pitchFamily="18" charset="-127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3A32188-5158-360D-C131-A59CB05CA19E}"/>
                    </a:ext>
                  </a:extLst>
                </p:cNvPr>
                <p:cNvSpPr txBox="1"/>
                <p:nvPr/>
              </p:nvSpPr>
              <p:spPr>
                <a:xfrm>
                  <a:off x="3276573" y="3119849"/>
                  <a:ext cx="1054776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ko-KR" altLang="en-US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세계게임올림픽 서울</a:t>
                  </a:r>
                  <a:r>
                    <a:rPr lang="en-US" altLang="ko-KR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, </a:t>
                  </a:r>
                  <a:r>
                    <a:rPr lang="ko-KR" altLang="en-US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상하이 </a:t>
                  </a:r>
                  <a:r>
                    <a:rPr lang="en-US" altLang="ko-KR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PM</a:t>
                  </a:r>
                  <a:endPara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latin typeface="a고딕13" panose="02020600000000000000" pitchFamily="18" charset="-127"/>
                    <a:ea typeface="a고딕13" panose="02020600000000000000" pitchFamily="18" charset="-127"/>
                  </a:endParaRPr>
                </a:p>
              </p:txBody>
            </p:sp>
          </p:grp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FFDD25DA-0FB3-8130-B7DA-27A618E84336}"/>
                  </a:ext>
                </a:extLst>
              </p:cNvPr>
              <p:cNvGrpSpPr/>
              <p:nvPr/>
            </p:nvGrpSpPr>
            <p:grpSpPr>
              <a:xfrm>
                <a:off x="2926473" y="4108357"/>
                <a:ext cx="1284651" cy="107722"/>
                <a:chOff x="2926473" y="3119849"/>
                <a:chExt cx="1284651" cy="107722"/>
              </a:xfrm>
            </p:grpSpPr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4623D0D6-AEA5-30B6-A442-8D4B8CDBE090}"/>
                    </a:ext>
                  </a:extLst>
                </p:cNvPr>
                <p:cNvSpPr txBox="1"/>
                <p:nvPr/>
              </p:nvSpPr>
              <p:spPr>
                <a:xfrm>
                  <a:off x="2926473" y="3119849"/>
                  <a:ext cx="65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endPara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latin typeface="a고딕13" panose="02020600000000000000" pitchFamily="18" charset="-127"/>
                    <a:ea typeface="a고딕13" panose="02020600000000000000" pitchFamily="18" charset="-127"/>
                  </a:endParaRP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3EC1697-AA9F-18A5-9803-6853B707CCCC}"/>
                    </a:ext>
                  </a:extLst>
                </p:cNvPr>
                <p:cNvSpPr txBox="1"/>
                <p:nvPr/>
              </p:nvSpPr>
              <p:spPr>
                <a:xfrm>
                  <a:off x="3276573" y="3119849"/>
                  <a:ext cx="934551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ko-KR" altLang="en-US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한</a:t>
                  </a:r>
                  <a:r>
                    <a:rPr lang="en-US" altLang="ko-KR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-</a:t>
                  </a:r>
                  <a:r>
                    <a:rPr lang="ko-KR" altLang="en-US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아세안 문화교류 기획 </a:t>
                  </a:r>
                  <a:r>
                    <a:rPr lang="en-US" altLang="ko-KR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PM</a:t>
                  </a:r>
                  <a:endPara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latin typeface="a고딕13" panose="02020600000000000000" pitchFamily="18" charset="-127"/>
                    <a:ea typeface="a고딕13" panose="02020600000000000000" pitchFamily="18" charset="-127"/>
                  </a:endParaRPr>
                </a:p>
              </p:txBody>
            </p:sp>
          </p:grp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281DCB48-A066-3B84-6226-3C2EEC00417D}"/>
                  </a:ext>
                </a:extLst>
              </p:cNvPr>
              <p:cNvGrpSpPr/>
              <p:nvPr/>
            </p:nvGrpSpPr>
            <p:grpSpPr>
              <a:xfrm>
                <a:off x="2926473" y="4280989"/>
                <a:ext cx="989699" cy="107722"/>
                <a:chOff x="2926473" y="3119849"/>
                <a:chExt cx="989699" cy="107722"/>
              </a:xfrm>
            </p:grpSpPr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30590DE-9F8F-EF74-AF0A-6735B96A1696}"/>
                    </a:ext>
                  </a:extLst>
                </p:cNvPr>
                <p:cNvSpPr txBox="1"/>
                <p:nvPr/>
              </p:nvSpPr>
              <p:spPr>
                <a:xfrm>
                  <a:off x="2926473" y="3119849"/>
                  <a:ext cx="173124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2017</a:t>
                  </a:r>
                  <a:endPara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latin typeface="a고딕13" panose="02020600000000000000" pitchFamily="18" charset="-127"/>
                    <a:ea typeface="a고딕13" panose="02020600000000000000" pitchFamily="18" charset="-127"/>
                  </a:endParaRP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C00040F-FE8F-1D42-5CB5-809E5367C5B5}"/>
                    </a:ext>
                  </a:extLst>
                </p:cNvPr>
                <p:cNvSpPr txBox="1"/>
                <p:nvPr/>
              </p:nvSpPr>
              <p:spPr>
                <a:xfrm>
                  <a:off x="3276573" y="3119849"/>
                  <a:ext cx="639599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ko-KR" altLang="en-US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평창동계올림픽 </a:t>
                  </a:r>
                  <a:r>
                    <a:rPr lang="en-US" altLang="ko-KR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PM</a:t>
                  </a:r>
                  <a:endPara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latin typeface="a고딕13" panose="02020600000000000000" pitchFamily="18" charset="-127"/>
                    <a:ea typeface="a고딕13" panose="02020600000000000000" pitchFamily="18" charset="-127"/>
                  </a:endParaRPr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71DC28ED-34D5-84F9-F008-462430B7FF3C}"/>
                  </a:ext>
                </a:extLst>
              </p:cNvPr>
              <p:cNvGrpSpPr/>
              <p:nvPr/>
            </p:nvGrpSpPr>
            <p:grpSpPr>
              <a:xfrm>
                <a:off x="2926473" y="2899940"/>
                <a:ext cx="1757537" cy="107722"/>
                <a:chOff x="2926473" y="3119849"/>
                <a:chExt cx="1757537" cy="107722"/>
              </a:xfrm>
            </p:grpSpPr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A1757F1-2BD9-2987-F2BF-290E9EEB5F2B}"/>
                    </a:ext>
                  </a:extLst>
                </p:cNvPr>
                <p:cNvSpPr txBox="1"/>
                <p:nvPr/>
              </p:nvSpPr>
              <p:spPr>
                <a:xfrm>
                  <a:off x="2926473" y="3119849"/>
                  <a:ext cx="173124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2026</a:t>
                  </a:r>
                  <a:endPara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latin typeface="a고딕13" panose="02020600000000000000" pitchFamily="18" charset="-127"/>
                    <a:ea typeface="a고딕13" panose="02020600000000000000" pitchFamily="18" charset="-127"/>
                  </a:endParaRP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F102FAF5-30B1-D9DF-EE3A-EC1E31E7D063}"/>
                    </a:ext>
                  </a:extLst>
                </p:cNvPr>
                <p:cNvSpPr txBox="1"/>
                <p:nvPr/>
              </p:nvSpPr>
              <p:spPr>
                <a:xfrm>
                  <a:off x="3276573" y="3119849"/>
                  <a:ext cx="1407437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sz="700" spc="-50">
                      <a:ln>
                        <a:solidFill>
                          <a:schemeClr val="bg1">
                            <a:alpha val="10000"/>
                          </a:schemeClr>
                        </a:solidFill>
                      </a:ln>
                      <a:solidFill>
                        <a:schemeClr val="bg1"/>
                      </a:solidFill>
                      <a:latin typeface="a고딕13" panose="02020600000000000000" pitchFamily="18" charset="-127"/>
                      <a:ea typeface="a고딕13" panose="02020600000000000000" pitchFamily="18" charset="-127"/>
                    </a:rPr>
                    <a:t>Stealth Venture – Founding Team  |  CSO</a:t>
                  </a:r>
                  <a:endParaRPr lang="ko-KR" altLang="en-US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latin typeface="a고딕13" panose="02020600000000000000" pitchFamily="18" charset="-127"/>
                    <a:ea typeface="a고딕13" panose="02020600000000000000" pitchFamily="18" charset="-127"/>
                  </a:endParaRPr>
                </a:p>
              </p:txBody>
            </p: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2C658C1-7881-91CC-6D74-5CD65DA4D4E1}"/>
                  </a:ext>
                </a:extLst>
              </p:cNvPr>
              <p:cNvSpPr txBox="1"/>
              <p:nvPr/>
            </p:nvSpPr>
            <p:spPr>
              <a:xfrm>
                <a:off x="3276573" y="3072571"/>
                <a:ext cx="1420261" cy="1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700" spc="-50">
                    <a:ln>
                      <a:solidFill>
                        <a:schemeClr val="bg1">
                          <a:alpha val="10000"/>
                        </a:schemeClr>
                      </a:solidFill>
                    </a:ln>
                    <a:solidFill>
                      <a:schemeClr val="bg1"/>
                    </a:solidFill>
                    <a:latin typeface="a고딕13" panose="02020600000000000000" pitchFamily="18" charset="-127"/>
                    <a:ea typeface="a고딕13" panose="02020600000000000000" pitchFamily="18" charset="-127"/>
                  </a:rPr>
                  <a:t>Principal  |  Strategy &amp; Execution Advisor</a:t>
                </a:r>
                <a:endParaRPr lang="ko-KR" altLang="en-US" sz="700" spc="-50">
                  <a:ln>
                    <a:solidFill>
                      <a:schemeClr val="bg1">
                        <a:alpha val="10000"/>
                      </a:schemeClr>
                    </a:solidFill>
                  </a:ln>
                  <a:solidFill>
                    <a:schemeClr val="bg1"/>
                  </a:solidFill>
                  <a:latin typeface="a고딕13" panose="02020600000000000000" pitchFamily="18" charset="-127"/>
                  <a:ea typeface="a고딕13" panose="02020600000000000000" pitchFamily="18" charset="-127"/>
                </a:endParaRPr>
              </a:p>
            </p:txBody>
          </p:sp>
        </p:grp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E141BCB-361C-9C07-B2B1-CF9443759097}"/>
              </a:ext>
            </a:extLst>
          </p:cNvPr>
          <p:cNvSpPr/>
          <p:nvPr/>
        </p:nvSpPr>
        <p:spPr>
          <a:xfrm>
            <a:off x="2789193" y="2617620"/>
            <a:ext cx="2000613" cy="2114400"/>
          </a:xfrm>
          <a:prstGeom prst="rect">
            <a:avLst/>
          </a:prstGeom>
          <a:noFill/>
          <a:ln>
            <a:solidFill>
              <a:srgbClr val="66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72943A46-1451-E221-6244-8DED01B6F5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02194" y="3382429"/>
            <a:ext cx="818118" cy="3970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2514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9866A9-DAD7-A5C0-FC2F-D3181673F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D7D5DC6-1067-702A-7004-D13FFF8139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0" r="67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8426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3470</TotalTime>
  <Words>1078</Words>
  <Application>Microsoft Office PowerPoint</Application>
  <PresentationFormat>와이드스크린</PresentationFormat>
  <Paragraphs>290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a고딕13</vt:lpstr>
      <vt:lpstr>a고딕15</vt:lpstr>
      <vt:lpstr>a고딕17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YOUNGRYEOL CHOI</dc:creator>
  <cp:lastModifiedBy>YOUNGRYEOL CHOI</cp:lastModifiedBy>
  <cp:revision>11</cp:revision>
  <dcterms:created xsi:type="dcterms:W3CDTF">2026-04-03T07:07:54Z</dcterms:created>
  <dcterms:modified xsi:type="dcterms:W3CDTF">2026-04-13T07:21:34Z</dcterms:modified>
</cp:coreProperties>
</file>